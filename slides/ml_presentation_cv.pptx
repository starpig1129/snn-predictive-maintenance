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mem(t)</c:v>
                </c:pt>
              </c:strCache>
            </c:strRef>
          </c:tx>
          <c:spPr>
            <a:ln w="31750">
              <a:solidFill>
                <a:srgbClr val="3FB950"/>
              </a:solidFill>
            </a:ln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0.05</c:v>
                </c:pt>
                <c:pt idx="1">
                  <c:v>0.18</c:v>
                </c:pt>
                <c:pt idx="2">
                  <c:v>0.38</c:v>
                </c:pt>
                <c:pt idx="3">
                  <c:v>0.64</c:v>
                </c:pt>
                <c:pt idx="4">
                  <c:v>0.88</c:v>
                </c:pt>
                <c:pt idx="5">
                  <c:v>1.05</c:v>
                </c:pt>
                <c:pt idx="6">
                  <c:v>0.05</c:v>
                </c:pt>
                <c:pt idx="7">
                  <c:v>0.22</c:v>
                </c:pt>
                <c:pt idx="8">
                  <c:v>0.5</c:v>
                </c:pt>
                <c:pt idx="9">
                  <c:v>0.82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>
                <a:solidFill>
                  <a:srgbClr val="8B949E"/>
                </a:solidFill>
              </a:rPr>
              <a:t>Training Loss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Loss</c:v>
                </c:pt>
              </c:strCache>
            </c:strRef>
          </c:tx>
          <c:spPr>
            <a:ln w="31750">
              <a:solidFill>
                <a:srgbClr val="3FB950"/>
              </a:solidFill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Ep 1</c:v>
                </c:pt>
                <c:pt idx="1">
                  <c:v>Ep 2</c:v>
                </c:pt>
                <c:pt idx="2">
                  <c:v>Ep 3</c:v>
                </c:pt>
                <c:pt idx="3">
                  <c:v>Ep 4</c:v>
                </c:pt>
                <c:pt idx="4">
                  <c:v>Ep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1.4727</c:v>
                </c:pt>
                <c:pt idx="1">
                  <c:v>0.5</c:v>
                </c:pt>
                <c:pt idx="2">
                  <c:v>0.09</c:v>
                </c:pt>
                <c:pt idx="3">
                  <c:v>0.01</c:v>
                </c:pt>
                <c:pt idx="4">
                  <c:v>0.0001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89904" cy="54864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0F6FC"/>
                </a:solidFill>
              </a:rPr>
              <a:t>Predictive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58A6FF"/>
                </a:solidFill>
              </a:rPr>
              <a:t>via Spiking Neural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B949E"/>
                </a:solidFill>
              </a:rPr>
              <a:t>on Bearing Vibration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8A6FF"/>
                </a:solidFill>
              </a:rPr>
              <a:t>Normal signal  ←——  sparse spikes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85149"/>
                </a:solidFill>
              </a:rPr>
              <a:t>Fault signal  ←——  dense spikes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480560"/>
            <a:ext cx="36576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45920" y="4480560"/>
            <a:ext cx="36576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4480560"/>
            <a:ext cx="36576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7520" y="4480560"/>
            <a:ext cx="36576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0" y="4480560"/>
            <a:ext cx="36576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4480560"/>
            <a:ext cx="36576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4480560"/>
            <a:ext cx="36576" cy="3200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914400" y="4800600"/>
            <a:ext cx="4572000" cy="0"/>
          </a:xfrm>
          <a:prstGeom prst="line">
            <a:avLst/>
          </a:prstGeom>
          <a:ln w="127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675120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39712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04304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68896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33488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79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62671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27264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91856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56448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85632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50224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14816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79408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0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08592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73184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37776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02367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66959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31552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296144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460736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625328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789920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954512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119104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83696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448288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612880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777472" y="4480560"/>
            <a:ext cx="54864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6675120" y="4800600"/>
            <a:ext cx="4754880" cy="0"/>
          </a:xfrm>
          <a:prstGeom prst="line">
            <a:avLst/>
          </a:prstGeom>
          <a:ln w="127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84F58"/>
                </a:solidFill>
              </a:rPr>
              <a:t>Machine Learning  ·  Final Report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Machine Learning · SNN 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F6FC"/>
                </a:solidFill>
              </a:rPr>
              <a:t>Motivation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25880"/>
            <a:ext cx="12188952" cy="0"/>
          </a:xfrm>
          <a:prstGeom prst="line">
            <a:avLst/>
          </a:prstGeom>
          <a:ln w="1524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0080" y="1463040"/>
            <a:ext cx="2743200" cy="1645920"/>
          </a:xfrm>
          <a:prstGeom prst="roundRect">
            <a:avLst/>
          </a:prstGeom>
          <a:solidFill>
            <a:srgbClr val="3D0F0F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85149"/>
                </a:solidFill>
              </a:rPr>
              <a:t>Unplanned
Downtime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</a:rPr>
              <a:t>No warning before failure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463040"/>
            <a:ext cx="2743200" cy="1645920"/>
          </a:xfrm>
          <a:prstGeom prst="roundRect">
            <a:avLst/>
          </a:prstGeom>
          <a:solidFill>
            <a:srgbClr val="251A00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1600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29922"/>
                </a:solidFill>
              </a:rPr>
              <a:t>Manual
Inspection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331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</a:rPr>
              <a:t>Expensive, error-prone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463040"/>
            <a:ext cx="2743200" cy="1645920"/>
          </a:xfrm>
          <a:prstGeom prst="roundRect">
            <a:avLst/>
          </a:prstGeom>
          <a:solidFill>
            <a:srgbClr val="3D0F0F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16002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85149"/>
                </a:solidFill>
              </a:rPr>
              <a:t>Early Faults
Missed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331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</a:rPr>
              <a:t>Below detection 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3246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58A6FF"/>
                </a:solidFill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749039"/>
            <a:ext cx="9445752" cy="1371600"/>
          </a:xfrm>
          <a:prstGeom prst="roundRect">
            <a:avLst/>
          </a:prstGeom>
          <a:solidFill>
            <a:srgbClr val="0F2A4A"/>
          </a:solidFill>
          <a:ln w="317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3886200"/>
            <a:ext cx="9235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58A6FF"/>
                </a:solidFill>
              </a:rPr>
              <a:t>Data-Driven SNN Classifier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43484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B949E"/>
                </a:solidFill>
              </a:rPr>
              <a:t>Learn fault signatures from vibration data  ·  &lt;1 KB model  ·  Real-time on microcontroller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029200"/>
            <a:ext cx="9235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84F58"/>
                </a:solidFill>
              </a:rPr>
              <a:t>Constraint: model size &lt; 1 KB  ·  No fixed input window  ·  200 Hz sensor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Machine Learning · SNN 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F6FC"/>
                </a:solidFill>
              </a:rPr>
              <a:t>Problem Formulation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25880"/>
            <a:ext cx="12188952" cy="0"/>
          </a:xfrm>
          <a:prstGeom prst="line">
            <a:avLst/>
          </a:prstGeom>
          <a:ln w="1524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65760" y="1554480"/>
            <a:ext cx="3200400" cy="3840480"/>
          </a:xfrm>
          <a:prstGeom prst="roundRect">
            <a:avLst/>
          </a:prstGeom>
          <a:solidFill>
            <a:srgbClr val="0A0E14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84F58"/>
                </a:solidFill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8A6FF"/>
                </a:solidFill>
              </a:rPr>
              <a:t>Accelerometer
Z-axis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</a:rPr>
              <a:t>continuous time-series
stream (unbounded)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84F58"/>
                </a:solidFill>
              </a:rPr>
              <a:t>12 kHz · CWRU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337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8A6FF"/>
                </a:solidFill>
              </a:rPr>
              <a:t>──────►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017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</a:rPr>
              <a:t>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920240"/>
            <a:ext cx="3200400" cy="1280160"/>
          </a:xfrm>
          <a:prstGeom prst="roundRect">
            <a:avLst/>
          </a:prstGeom>
          <a:solidFill>
            <a:srgbClr val="0F3D20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1945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FB950"/>
                </a:solidFill>
              </a:rPr>
              <a:t>✓  Normal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520440"/>
            <a:ext cx="3200400" cy="1280160"/>
          </a:xfrm>
          <a:prstGeom prst="roundRect">
            <a:avLst/>
          </a:prstGeom>
          <a:solidFill>
            <a:srgbClr val="3D0F0F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37947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85149"/>
                </a:solidFill>
              </a:rPr>
              <a:t>✗  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554480"/>
            <a:ext cx="3108960" cy="38404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1691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9922"/>
                </a:solidFill>
              </a:rPr>
              <a:t>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1488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• Unbounded input (streaming)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6060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• Model size  &lt; 1 KB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0632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• Real-time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520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• No fixed window 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977639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• Binary output per interval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Machine Learning · SNN 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F6FC"/>
                </a:solidFill>
              </a:rPr>
              <a:t>CWRU Bearing Dataset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25880"/>
            <a:ext cx="12188952" cy="0"/>
          </a:xfrm>
          <a:prstGeom prst="line">
            <a:avLst/>
          </a:prstGeom>
          <a:ln w="1524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65760" y="1417320"/>
            <a:ext cx="5669280" cy="457200"/>
          </a:xfrm>
          <a:prstGeom prst="roundRect">
            <a:avLst/>
          </a:prstGeom>
          <a:solidFill>
            <a:srgbClr val="0F2A4A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904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</a:rPr>
              <a:t>Case Western Reserve University  ·  Public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49E"/>
                </a:solidFill>
              </a:rPr>
              <a:t>NORMAL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286000"/>
            <a:ext cx="5303520" cy="685800"/>
          </a:xfrm>
          <a:prstGeom prst="roundRect">
            <a:avLst/>
          </a:prstGeom>
          <a:solidFill>
            <a:srgbClr val="0F3D20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97.mat   —   Normal baseline   ·   243,938 samples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49E"/>
                </a:solidFill>
              </a:rPr>
              <a:t>INNER RACE FAULT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383280"/>
            <a:ext cx="5303520" cy="640080"/>
          </a:xfrm>
          <a:prstGeom prst="roundRect">
            <a:avLst/>
          </a:prstGeom>
          <a:solidFill>
            <a:srgbClr val="3D0F0F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520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5149"/>
                </a:solidFill>
              </a:rPr>
              <a:t>105.mat   —   fault diameter 0.007 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133088"/>
            <a:ext cx="5303520" cy="640080"/>
          </a:xfrm>
          <a:prstGeom prst="roundRect">
            <a:avLst/>
          </a:prstGeom>
          <a:solidFill>
            <a:srgbClr val="3D0F0F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2702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5149"/>
                </a:solidFill>
              </a:rPr>
              <a:t>118.mat   —   fault diameter 0.014 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82896"/>
            <a:ext cx="5303520" cy="640080"/>
          </a:xfrm>
          <a:prstGeom prst="roundRect">
            <a:avLst/>
          </a:prstGeom>
          <a:solidFill>
            <a:srgbClr val="3D0F0F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0200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5149"/>
                </a:solidFill>
              </a:rPr>
              <a:t>130.mat   —   fault diameter 0.021 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949E"/>
                </a:solidFill>
              </a:rPr>
              <a:t>Sample 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4828032"/>
            <a:ext cx="4572000" cy="1115568"/>
          </a:xfrm>
          <a:prstGeom prst="rect">
            <a:avLst/>
          </a:prstGeom>
          <a:solidFill>
            <a:srgbClr val="0F3D20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21440" y="5029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243,938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989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Normal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5303520"/>
            <a:ext cx="2286000" cy="640080"/>
          </a:xfrm>
          <a:prstGeom prst="rect">
            <a:avLst/>
          </a:prstGeom>
          <a:solidFill>
            <a:srgbClr val="3D0F0F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5486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5149"/>
                </a:solidFill>
              </a:rPr>
              <a:t>121,265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63093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5149"/>
                </a:solidFill>
              </a:rPr>
              <a:t>Fault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0" y="5943600"/>
            <a:ext cx="4754880" cy="0"/>
          </a:xfrm>
          <a:prstGeom prst="line">
            <a:avLst/>
          </a:prstGeom>
          <a:ln w="1905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84F58"/>
                </a:solidFill>
              </a:rPr>
              <a:t>Sampling Rate: 12,000 Hz  ·  Drive-End Accelerometer  ·  scipy.io.loadmat()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Machine Learning · SNN 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F6FC"/>
                </a:solidFill>
              </a:rPr>
              <a:t>Delta Modulation → Spike Encoding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25880"/>
            <a:ext cx="12188952" cy="0"/>
          </a:xfrm>
          <a:prstGeom prst="line">
            <a:avLst/>
          </a:prstGeom>
          <a:ln w="1524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371600" y="1371600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1">
                <a:solidFill>
                  <a:srgbClr val="3FB950"/>
                </a:solidFill>
              </a:rPr>
              <a:t>spike(t) = 1  if  |accel(t) − accel(t−1)| &gt; θ        θ = 0.05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8A6FF"/>
                </a:solidFill>
              </a:rPr>
              <a:t>NORMAL  Bearing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240280"/>
            <a:ext cx="5303520" cy="1188720"/>
          </a:xfrm>
          <a:prstGeom prst="roundRect">
            <a:avLst/>
          </a:prstGeom>
          <a:solidFill>
            <a:srgbClr val="0A0E14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Raw signal  (small amplitude oscillation)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35224"/>
            <a:ext cx="201168" cy="1645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59" y="2999232"/>
            <a:ext cx="201168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2935224"/>
            <a:ext cx="201168" cy="1645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2999232"/>
            <a:ext cx="201168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45919" y="2935224"/>
            <a:ext cx="201168" cy="1645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20240" y="2999232"/>
            <a:ext cx="201168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94560" y="2935224"/>
            <a:ext cx="201168" cy="1645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68880" y="2999232"/>
            <a:ext cx="201168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0" y="2935224"/>
            <a:ext cx="201168" cy="1645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17520" y="2999232"/>
            <a:ext cx="201168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2935224"/>
            <a:ext cx="201168" cy="1645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6160" y="2999232"/>
            <a:ext cx="201168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79" y="2935224"/>
            <a:ext cx="201168" cy="1645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0" y="2999232"/>
            <a:ext cx="201168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2935224"/>
            <a:ext cx="201168" cy="1645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63440" y="2999232"/>
            <a:ext cx="201168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7759" y="2935224"/>
            <a:ext cx="201168" cy="1645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12079" y="2999232"/>
            <a:ext cx="201168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5760" y="3520440"/>
            <a:ext cx="5303520" cy="914400"/>
          </a:xfrm>
          <a:prstGeom prst="roundRect">
            <a:avLst/>
          </a:prstGeom>
          <a:solidFill>
            <a:srgbClr val="0A0E14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5844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Spike train  (sparse)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" y="4251960"/>
            <a:ext cx="5120640" cy="0"/>
          </a:xfrm>
          <a:prstGeom prst="line">
            <a:avLst/>
          </a:prstGeom>
          <a:ln w="12700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822960" y="3977639"/>
            <a:ext cx="50292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54480" y="3977639"/>
            <a:ext cx="50292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77440" y="3977639"/>
            <a:ext cx="50292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0" y="3977639"/>
            <a:ext cx="50292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49039" y="3977639"/>
            <a:ext cx="50292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80560" y="3977639"/>
            <a:ext cx="50292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212080" y="3977639"/>
            <a:ext cx="50292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2960" y="4572000"/>
            <a:ext cx="4389120" cy="594360"/>
          </a:xfrm>
          <a:prstGeom prst="roundRect">
            <a:avLst/>
          </a:prstGeom>
          <a:solidFill>
            <a:srgbClr val="0F2A4A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64515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</a:rPr>
              <a:t>Spike 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8920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A6FF"/>
                </a:solidFill>
              </a:rPr>
              <a:t>0.185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187451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85149"/>
                </a:solidFill>
              </a:rPr>
              <a:t>FAULT  Bearing  (Inner Race)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2240280"/>
            <a:ext cx="5303520" cy="1188720"/>
          </a:xfrm>
          <a:prstGeom prst="roundRect">
            <a:avLst/>
          </a:prstGeom>
          <a:solidFill>
            <a:srgbClr val="0A0E14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2331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Raw signal  (large amplitude impulses)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2674620"/>
            <a:ext cx="274320" cy="5029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03720" y="2889504"/>
            <a:ext cx="274320" cy="7315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15200" y="2674620"/>
            <a:ext cx="274320" cy="5029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26679" y="2889504"/>
            <a:ext cx="274320" cy="7315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38160" y="2674620"/>
            <a:ext cx="274320" cy="5029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549640" y="2889504"/>
            <a:ext cx="274320" cy="7315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961120" y="2674620"/>
            <a:ext cx="274320" cy="5029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372600" y="2889504"/>
            <a:ext cx="274320" cy="7315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784080" y="2674620"/>
            <a:ext cx="274320" cy="5029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195559" y="2889504"/>
            <a:ext cx="274320" cy="7315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607040" y="2674620"/>
            <a:ext cx="274320" cy="5029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018520" y="2889504"/>
            <a:ext cx="274320" cy="7315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400800" y="3520440"/>
            <a:ext cx="5303520" cy="914400"/>
          </a:xfrm>
          <a:prstGeom prst="roundRect">
            <a:avLst/>
          </a:prstGeom>
          <a:solidFill>
            <a:srgbClr val="0A0E14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37960" y="35844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Spike train  (dense)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492240" y="4251960"/>
            <a:ext cx="5120640" cy="0"/>
          </a:xfrm>
          <a:prstGeom prst="line">
            <a:avLst/>
          </a:prstGeom>
          <a:ln w="12700">
            <a:solidFill>
              <a:srgbClr val="2126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6537960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624828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711696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798564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885432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972300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059168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146036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232904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319772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406640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493508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580376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667244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754112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840980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927848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014716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101583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188452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275320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62188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449056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535924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622792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709660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796528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883396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970264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057132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144000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230868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317736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404604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491472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578340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665208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752076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838944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925812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012680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099548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186416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273284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360152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447020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533888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620756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707624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794492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881360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968228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1055096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141964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228832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315700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402568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489436" y="3977639"/>
            <a:ext cx="50292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6949440" y="4572000"/>
            <a:ext cx="4389120" cy="594360"/>
          </a:xfrm>
          <a:prstGeom prst="roundRect">
            <a:avLst/>
          </a:prstGeom>
          <a:solidFill>
            <a:srgbClr val="3D0F0F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040880" y="464515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</a:rPr>
              <a:t>Spike Rate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040880" y="48920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85149"/>
                </a:solidFill>
              </a:rPr>
              <a:t>0.854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371600" y="5349240"/>
            <a:ext cx="9445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4.6×  difference  →  directly classifiable by spike rate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6099048" y="1828800"/>
            <a:ext cx="0" cy="3474720"/>
          </a:xfrm>
          <a:prstGeom prst="line">
            <a:avLst/>
          </a:prstGeom>
          <a:ln w="127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Machine Learning · SNN 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F6FC"/>
                </a:solidFill>
              </a:rPr>
              <a:t>Model Architecture — Streaming SNN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25880"/>
            <a:ext cx="12188952" cy="0"/>
          </a:xfrm>
          <a:prstGeom prst="line">
            <a:avLst/>
          </a:prstGeom>
          <a:ln w="1524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0040" y="2011680"/>
            <a:ext cx="1737360" cy="1645920"/>
          </a:xfrm>
          <a:prstGeom prst="roundRect">
            <a:avLst/>
          </a:prstGeom>
          <a:solidFill>
            <a:srgbClr val="0A0E14"/>
          </a:solidFill>
          <a:ln w="317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224028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0F6FC"/>
                </a:solidFill>
              </a:rPr>
              <a:t>Spike
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8803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1 scalar
per step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75688" y="2834640"/>
            <a:ext cx="256032" cy="0"/>
          </a:xfrm>
          <a:prstGeom prst="line">
            <a:avLst/>
          </a:prstGeom>
          <a:ln w="254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50008" y="2011680"/>
            <a:ext cx="1737360" cy="1645920"/>
          </a:xfrm>
          <a:prstGeom prst="roundRect">
            <a:avLst/>
          </a:prstGeom>
          <a:solidFill>
            <a:srgbClr val="0F2A4A"/>
          </a:solidFill>
          <a:ln w="317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41448" y="224028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0F6FC"/>
                </a:solidFill>
              </a:rPr>
              <a:t>FC1
Linear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28803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1 → 32
no bias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05655" y="2834640"/>
            <a:ext cx="256033" cy="0"/>
          </a:xfrm>
          <a:prstGeom prst="line">
            <a:avLst/>
          </a:prstGeom>
          <a:ln w="254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79975" y="2011680"/>
            <a:ext cx="1737360" cy="1645920"/>
          </a:xfrm>
          <a:prstGeom prst="roundRect">
            <a:avLst/>
          </a:prstGeom>
          <a:solidFill>
            <a:srgbClr val="0F3D20"/>
          </a:solidFill>
          <a:ln w="317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5" y="224028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0F6FC"/>
                </a:solidFill>
              </a:rPr>
              <a:t>LIF1
Leaky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5" y="28803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β learned
persistent mem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35623" y="2834640"/>
            <a:ext cx="256032" cy="0"/>
          </a:xfrm>
          <a:prstGeom prst="line">
            <a:avLst/>
          </a:prstGeom>
          <a:ln w="254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9943" y="2011680"/>
            <a:ext cx="1737360" cy="1645920"/>
          </a:xfrm>
          <a:prstGeom prst="roundRect">
            <a:avLst/>
          </a:prstGeom>
          <a:solidFill>
            <a:srgbClr val="0F2A4A"/>
          </a:solidFill>
          <a:ln w="317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3" y="224028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0F6FC"/>
                </a:solidFill>
              </a:rPr>
              <a:t>FC2
Linear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3" y="28803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32 → 2
no bias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65591" y="2834640"/>
            <a:ext cx="256033" cy="0"/>
          </a:xfrm>
          <a:prstGeom prst="line">
            <a:avLst/>
          </a:prstGeom>
          <a:ln w="254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439911" y="2011680"/>
            <a:ext cx="1737360" cy="1645920"/>
          </a:xfrm>
          <a:prstGeom prst="roundRect">
            <a:avLst/>
          </a:prstGeom>
          <a:solidFill>
            <a:srgbClr val="161B22"/>
          </a:solidFill>
          <a:ln w="317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31351" y="224028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0F6FC"/>
                </a:solidFill>
              </a:rPr>
              <a:t>Σ Accum.
200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1351" y="28803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≈1 second
rate coding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195559" y="2834640"/>
            <a:ext cx="256033" cy="0"/>
          </a:xfrm>
          <a:prstGeom prst="line">
            <a:avLst/>
          </a:prstGeom>
          <a:ln w="254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469879" y="2011680"/>
            <a:ext cx="1737360" cy="1645920"/>
          </a:xfrm>
          <a:prstGeom prst="roundRect">
            <a:avLst/>
          </a:prstGeom>
          <a:solidFill>
            <a:srgbClr val="0F3D20"/>
          </a:solidFill>
          <a:ln w="317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61319" y="224028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0F6FC"/>
                </a:solidFill>
              </a:rPr>
              <a:t>argmax
Classify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19" y="28803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Normal
or Fault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84264" y="3840480"/>
            <a:ext cx="1737360" cy="914400"/>
          </a:xfrm>
          <a:prstGeom prst="roundRect">
            <a:avLst/>
          </a:prstGeom>
          <a:solidFill>
            <a:srgbClr val="0F3D20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75703" y="3913632"/>
            <a:ext cx="1554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FB950"/>
                </a:solidFill>
              </a:rPr>
              <a:t>mem = β·mem + W·x
fire if mem ≥ θ;
mem −= 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3931920"/>
            <a:ext cx="5788152" cy="685800"/>
          </a:xfrm>
          <a:prstGeom prst="roundRect">
            <a:avLst/>
          </a:prstGeom>
          <a:solidFill>
            <a:srgbClr val="0F3D20"/>
          </a:solidFill>
          <a:ln w="317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0" y="411480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Total: 97 parameters  ·  0.38 KB (float32)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80060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3FB950"/>
                </a:solidFill>
              </a:rPr>
              <a:t>⟵  mem₁ never reset between samples  —  persistent temporal memory  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Machine Learning · SNN 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F6FC"/>
                </a:solidFill>
              </a:rPr>
              <a:t>Leaky Integrate-and-Fire Neuron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25880"/>
            <a:ext cx="12188952" cy="0"/>
          </a:xfrm>
          <a:prstGeom prst="line">
            <a:avLst/>
          </a:prstGeom>
          <a:ln w="1524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65760" y="1463040"/>
            <a:ext cx="6858000" cy="9144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3FB950"/>
                </a:solidFill>
              </a:rPr>
              <a:t>mem(t) = β · mem(t−1)  +  W · spike(t)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38528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0F6FC"/>
                </a:solidFill>
              </a:rPr>
              <a:t>if mem(t) ≥ θ :   spike!   mem(t) −= θ   (soft reset)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514600"/>
            <a:ext cx="6858000" cy="32004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33472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9922"/>
                </a:solidFill>
              </a:rPr>
              <a:t>Parameters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" y="3017520"/>
            <a:ext cx="6858000" cy="0"/>
          </a:xfrm>
          <a:prstGeom prst="line">
            <a:avLst/>
          </a:prstGeom>
          <a:ln w="127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1089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β  (beta)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1089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</a:rPr>
              <a:t>leak factor ∈ (0,1)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108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controls decay speed  —  LEARNED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033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9922"/>
                </a:solidFill>
              </a:rPr>
              <a:t>θ  (threshold)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</a:rPr>
              <a:t>fire threshold = 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7033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fixed; soft reset: mem −= θ (not zeroed)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W  (weights)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2976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</a:rPr>
              <a:t>synaptic weights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2976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learned via surrogate BPTT, no bias terms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920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949E"/>
                </a:solidFill>
              </a:rPr>
              <a:t>x(t)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8920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6FC"/>
                </a:solidFill>
              </a:rPr>
              <a:t>binary spike {0, 1}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892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from delta modulation of accelerometer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498079" y="1463040"/>
          <a:ext cx="44805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498079" y="32004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FB950"/>
                </a:solidFill>
              </a:rPr>
              <a:t>↗ membrane rises → fires at θ=1.0 → soft reset → rises again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5760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29922"/>
                </a:solidFill>
              </a:rPr>
              <a:t>threshold θ = 1.0  (dashed line on chart)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Machine Learning · SNN 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F6FC"/>
                </a:solidFill>
              </a:rPr>
              <a:t>Training Pipeline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25880"/>
            <a:ext cx="12188952" cy="0"/>
          </a:xfrm>
          <a:prstGeom prst="line">
            <a:avLst/>
          </a:prstGeom>
          <a:ln w="1524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1920240"/>
            <a:ext cx="1554480" cy="1508760"/>
          </a:xfrm>
          <a:prstGeom prst="roundRect">
            <a:avLst/>
          </a:prstGeom>
          <a:solidFill>
            <a:srgbClr val="0F2A4A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210312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CWRU
.mat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27432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12 kHz
raw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65376" y="2674620"/>
            <a:ext cx="146304" cy="0"/>
          </a:xfrm>
          <a:prstGeom prst="line">
            <a:avLst/>
          </a:prstGeom>
          <a:ln w="254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29967" y="1920240"/>
            <a:ext cx="1554480" cy="1508760"/>
          </a:xfrm>
          <a:prstGeom prst="roundRect">
            <a:avLst/>
          </a:prstGeom>
          <a:solidFill>
            <a:srgbClr val="0F2A4A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21408" y="210312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Delta
Mod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7432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θ=0.05
binary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02736" y="2674620"/>
            <a:ext cx="146303" cy="0"/>
          </a:xfrm>
          <a:prstGeom prst="line">
            <a:avLst/>
          </a:prstGeom>
          <a:ln w="254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67328" y="1920240"/>
            <a:ext cx="1554480" cy="150876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8768" y="210312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Chunks
T=256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27432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TBPTT
boundary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40096" y="2674620"/>
            <a:ext cx="146304" cy="0"/>
          </a:xfrm>
          <a:prstGeom prst="line">
            <a:avLst/>
          </a:prstGeom>
          <a:ln w="254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504688" y="1920240"/>
            <a:ext cx="1554480" cy="1508760"/>
          </a:xfrm>
          <a:prstGeom prst="roundRect">
            <a:avLst/>
          </a:prstGeom>
          <a:solidFill>
            <a:srgbClr val="0F3D20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6127" y="210312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Streaming
SNN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6127" y="27432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97 params
FC+LIF+FC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77455" y="2674620"/>
            <a:ext cx="146304" cy="0"/>
          </a:xfrm>
          <a:prstGeom prst="line">
            <a:avLst/>
          </a:prstGeom>
          <a:ln w="254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242048" y="1920240"/>
            <a:ext cx="1554480" cy="1508760"/>
          </a:xfrm>
          <a:prstGeom prst="roundRect">
            <a:avLst/>
          </a:prstGeom>
          <a:solidFill>
            <a:srgbClr val="0F2A4A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210312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Cross-
Entropy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27432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surrogate
grad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14815" y="2674620"/>
            <a:ext cx="146304" cy="0"/>
          </a:xfrm>
          <a:prstGeom prst="line">
            <a:avLst/>
          </a:prstGeom>
          <a:ln w="254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79408" y="1920240"/>
            <a:ext cx="1554480" cy="1508760"/>
          </a:xfrm>
          <a:prstGeom prst="roundRect">
            <a:avLst/>
          </a:prstGeom>
          <a:solidFill>
            <a:srgbClr val="0F2A4A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0848" y="210312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Adam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8" y="27432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lr=1e−3
optimizer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552176" y="2674620"/>
            <a:ext cx="146304" cy="0"/>
          </a:xfrm>
          <a:prstGeom prst="line">
            <a:avLst/>
          </a:prstGeom>
          <a:ln w="2540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716767" y="1920240"/>
            <a:ext cx="1554480" cy="1508760"/>
          </a:xfrm>
          <a:prstGeom prst="roundRect">
            <a:avLst/>
          </a:prstGeom>
          <a:solidFill>
            <a:srgbClr val="0F3D20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08207" y="210312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Early
Stop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8207" y="27432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patience
=10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3657600"/>
            <a:ext cx="6858000" cy="1508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749039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9922"/>
                </a:solidFill>
              </a:rPr>
              <a:t>Truncated BPTT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133087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• Unroll C=256 steps per chunk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48055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• Detach gradient at chunk boundary  (stop grad)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828031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• mem₁ persists across all chunks during INFERENCE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79" y="3657600"/>
            <a:ext cx="4389120" cy="1508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0" y="374903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949E"/>
                </a:solidFill>
              </a:rPr>
              <a:t>Data Split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4133087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8A6FF"/>
                </a:solidFill>
              </a:rPr>
              <a:t>80% train  →  1,140 chunks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44805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FB950"/>
                </a:solidFill>
              </a:rPr>
              <a:t>20% test   →     285 chunks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Machine Learning · SNN 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F6FC"/>
                </a:solidFill>
              </a:rPr>
              <a:t>Training Results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25880"/>
            <a:ext cx="12188952" cy="0"/>
          </a:xfrm>
          <a:prstGeom prst="line">
            <a:avLst/>
          </a:prstGeom>
          <a:ln w="1524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63040"/>
          <a:ext cx="54864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1463040"/>
            <a:ext cx="5486400" cy="4846320"/>
          </a:xfrm>
          <a:prstGeom prst="roundRect">
            <a:avLst/>
          </a:prstGeom>
          <a:solidFill>
            <a:srgbClr val="0A0E14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FB950"/>
                </a:solidFill>
              </a:rPr>
              <a:t>Loss: 1.47 → 0.50 → 0.09 → 0.01 → 0.0001
(converges in 5 epochs)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394960" cy="4114800"/>
          </a:xfrm>
          <a:prstGeom prst="roundRect">
            <a:avLst/>
          </a:prstGeom>
          <a:solidFill>
            <a:srgbClr val="0F3D20"/>
          </a:solidFill>
          <a:ln w="381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3FB950"/>
                </a:solidFill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749039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F6FC"/>
                </a:solidFill>
              </a:rPr>
              <a:t>Test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251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</a:rPr>
              <a:t>285 test chunks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989320"/>
            <a:ext cx="11274552" cy="6400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1081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FB950"/>
                </a:solidFill>
              </a:rPr>
              <a:t>Fault:   P=1.00   R=1.00   F1=1.00  (102 chunks)       Normal:   P=1.00   R=1.00   F1=1.00  (183 chunks)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Machine Learning · SNN 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F6FC"/>
                </a:solidFill>
              </a:rPr>
              <a:t>Why Does It Work?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25880"/>
            <a:ext cx="12188952" cy="0"/>
          </a:xfrm>
          <a:prstGeom prst="line">
            <a:avLst/>
          </a:prstGeom>
          <a:ln w="1524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4173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949E"/>
                </a:solidFill>
              </a:rPr>
              <a:t>Spike Rate per Sample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164074"/>
            <a:ext cx="1645920" cy="761238"/>
          </a:xfrm>
          <a:prstGeom prst="rect">
            <a:avLst/>
          </a:prstGeom>
          <a:solidFill>
            <a:srgbClr val="0F2A4A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84403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8A6FF"/>
                </a:solidFill>
              </a:rPr>
              <a:t>0.185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9846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8A6FF"/>
                </a:solidFill>
              </a:rPr>
              <a:t>Normal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2411272"/>
            <a:ext cx="1645920" cy="3514039"/>
          </a:xfrm>
          <a:prstGeom prst="rect">
            <a:avLst/>
          </a:prstGeom>
          <a:solidFill>
            <a:srgbClr val="3D0F0F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0912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85149"/>
                </a:solidFill>
              </a:rPr>
              <a:t>0.854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599846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5149"/>
                </a:solidFill>
              </a:rPr>
              <a:t>Fault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5925312"/>
            <a:ext cx="5029200" cy="0"/>
          </a:xfrm>
          <a:prstGeom prst="line">
            <a:avLst/>
          </a:prstGeom>
          <a:ln w="1905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965960" y="345643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FB950"/>
                </a:solidFill>
              </a:rPr>
              <a:t>4.6×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463040"/>
            <a:ext cx="5943600" cy="1508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57276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① Delta Modulation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938528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Fault impulses → |Δaccel| exceeds θ nearly every step → dense spikes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3127248"/>
            <a:ext cx="5943600" cy="1508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323697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② LIF as Temporal Integrator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602736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mem(t) accumulates spike rate → robust, persistent memory, noise-resistant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4791456"/>
            <a:ext cx="5943600" cy="1508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490118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9922"/>
                </a:solidFill>
              </a:rPr>
              <a:t>③ Rate Coding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5266944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Logits summed over 200 steps → argmax → robust to single-step noise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Machine Learning · SNN 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F6FC"/>
                </a:solidFill>
              </a:rPr>
              <a:t>Model Efficiency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25880"/>
            <a:ext cx="12188952" cy="0"/>
          </a:xfrm>
          <a:prstGeom prst="line">
            <a:avLst/>
          </a:prstGeom>
          <a:ln w="1524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417320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8B949E"/>
                </a:solidFill>
              </a:rPr>
              <a:t>Parameter Count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29922"/>
                </a:solidFill>
              </a:rPr>
              <a:t>1D-CNN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2057400"/>
            <a:ext cx="9326880" cy="685800"/>
          </a:xfrm>
          <a:prstGeom prst="rect">
            <a:avLst/>
          </a:prstGeom>
          <a:solidFill>
            <a:srgbClr val="3D0F0F"/>
          </a:solidFill>
          <a:ln w="1905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0" y="2221991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29922"/>
                </a:solidFill>
              </a:rPr>
              <a:t>10,000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949E"/>
                </a:solidFill>
              </a:rPr>
              <a:t>LSTM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3474720"/>
            <a:ext cx="4663440" cy="685800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9" y="36393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949E"/>
                </a:solidFill>
              </a:rPr>
              <a:t>5,000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749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FB950"/>
                </a:solidFill>
              </a:rPr>
              <a:t>SNN  (ours)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4892040"/>
            <a:ext cx="109728" cy="685800"/>
          </a:xfrm>
          <a:prstGeom prst="rect">
            <a:avLst/>
          </a:prstGeom>
          <a:solidFill>
            <a:srgbClr val="0F3D20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1488" y="50566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97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5029200"/>
            <a:ext cx="3931920" cy="1371600"/>
          </a:xfrm>
          <a:prstGeom prst="roundRect">
            <a:avLst/>
          </a:prstGeom>
          <a:solidFill>
            <a:srgbClr val="0F3D20"/>
          </a:solidFill>
          <a:ln w="381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512064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3FB950"/>
                </a:solidFill>
              </a:rPr>
              <a:t>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57607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</a:rPr>
              <a:t>parameters  ·  0.38 KB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6364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F6FC"/>
                </a:solidFill>
              </a:rPr>
              <a:t>100× fewer parameters than a typical CNN  ·  no multiplications for binary input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84F58"/>
                </a:solidFill>
              </a:rPr>
              <a:t>Machine Learning · SNN 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F6FC"/>
                </a:solidFill>
              </a:rPr>
              <a:t>Conclusion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25880"/>
            <a:ext cx="12188952" cy="0"/>
          </a:xfrm>
          <a:prstGeom prst="line">
            <a:avLst/>
          </a:prstGeom>
          <a:ln w="1524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417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FB950"/>
                </a:solidFill>
              </a:rPr>
              <a:t>Achieved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56231"/>
            <a:ext cx="274320" cy="27432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874519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4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2880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F6FC"/>
                </a:solidFill>
              </a:rPr>
              <a:t>100% test accuracy on CWRU benchmark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96312"/>
            <a:ext cx="274320" cy="27432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25146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4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46888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F6FC"/>
                </a:solidFill>
              </a:rPr>
              <a:t>Only 97 parameters  ·  0.38 KB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36391"/>
            <a:ext cx="274320" cy="27432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3154679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4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10896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F6FC"/>
                </a:solidFill>
              </a:rPr>
              <a:t>True streaming — no fixed window size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76472"/>
            <a:ext cx="274320" cy="27432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3794759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4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749039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F6FC"/>
                </a:solidFill>
              </a:rPr>
              <a:t>Delta modulation: effective spike-rate feature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16552"/>
            <a:ext cx="274320" cy="27432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443484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4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38912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F6FC"/>
                </a:solidFill>
              </a:rPr>
              <a:t>Persistent LIF memory = temporal integration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0720" y="1417320"/>
            <a:ext cx="0" cy="5074920"/>
          </a:xfrm>
          <a:prstGeom prst="line">
            <a:avLst/>
          </a:prstGeom>
          <a:ln w="1905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17920" y="14173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</a:rPr>
              <a:t>Future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82880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A6FF"/>
                </a:solidFill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949E"/>
                </a:solidFill>
              </a:rPr>
              <a:t>Multi-class fault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1214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F58"/>
                </a:solidFill>
              </a:rPr>
              <a:t>ball fault · outer race fault · combined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85292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A6FF"/>
                </a:solidFill>
              </a:rP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28529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949E"/>
                </a:solidFill>
              </a:rPr>
              <a:t>Real motor data at 200 Hz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1455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F58"/>
                </a:solidFill>
              </a:rPr>
              <a:t>validate vs CWRU 12 kHz performance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877056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A6FF"/>
                </a:solidFill>
              </a:rPr>
              <a:t>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38770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949E"/>
                </a:solidFill>
              </a:rPr>
              <a:t>INT8 quantization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1696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F58"/>
                </a:solidFill>
              </a:rPr>
              <a:t>4× compression · faster MCU inference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90118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8A6FF"/>
                </a:solidFill>
              </a:rPr>
              <a:t>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49011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949E"/>
                </a:solidFill>
              </a:rPr>
              <a:t>Multi-axis + current sensor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1937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84F58"/>
                </a:solidFill>
              </a:rPr>
              <a:t>richer vibration feature space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6080760"/>
            <a:ext cx="11457432" cy="640080"/>
          </a:xfrm>
          <a:prstGeom prst="roundRect">
            <a:avLst/>
          </a:prstGeom>
          <a:solidFill>
            <a:srgbClr val="0F3D20"/>
          </a:solidFill>
          <a:ln w="317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19048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FB950"/>
                </a:solidFill>
              </a:rPr>
              <a:t>97-parameter streaming SNN achieves fault detection on par with much larger models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84F58"/>
                </a:solidFill>
              </a:rPr>
              <a:t>Machine Learning · SNN Predictive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0F6FC"/>
                </a:solidFill>
              </a:rPr>
              <a:t>5-Fold Cross-Validation Results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25880"/>
            <a:ext cx="12188952" cy="0"/>
          </a:xfrm>
          <a:prstGeom prst="line">
            <a:avLst/>
          </a:prstGeom>
          <a:ln w="12700">
            <a:solidFill>
              <a:srgbClr val="3036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417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949E"/>
                </a:solidFill>
              </a:rPr>
              <a:t>Summary (mean ± std across 5 folds)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83080"/>
            <a:ext cx="5029200" cy="457200"/>
          </a:xfrm>
          <a:prstGeom prst="rect">
            <a:avLst/>
          </a:prstGeom>
          <a:solidFill>
            <a:srgbClr val="0F2A1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5623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856231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</a:rPr>
              <a:t>1.0000 ± 0.0000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13432"/>
            <a:ext cx="5029200" cy="457200"/>
          </a:xfrm>
          <a:prstGeom prst="rect">
            <a:avLst/>
          </a:prstGeom>
          <a:solidFill>
            <a:srgbClr val="0A140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8658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3865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</a:rPr>
              <a:t>1.0000 ± 0.0000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43784"/>
            <a:ext cx="5029200" cy="457200"/>
          </a:xfrm>
          <a:prstGeom prst="rect">
            <a:avLst/>
          </a:prstGeom>
          <a:solidFill>
            <a:srgbClr val="0F2A1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16935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916935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</a:rPr>
              <a:t>1.0000 ± 0.0000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74135"/>
            <a:ext cx="5029200" cy="457200"/>
          </a:xfrm>
          <a:prstGeom prst="rect">
            <a:avLst/>
          </a:prstGeom>
          <a:solidFill>
            <a:srgbClr val="0A140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447287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F1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447287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</a:rPr>
              <a:t>1.0000 ± 0.0000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04487"/>
            <a:ext cx="5029200" cy="457200"/>
          </a:xfrm>
          <a:prstGeom prst="rect">
            <a:avLst/>
          </a:prstGeom>
          <a:solidFill>
            <a:srgbClr val="0F2A1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7763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ROC-AUC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97763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</a:rPr>
              <a:t>1.0000 ± 0.0000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572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84F58"/>
                </a:solidFill>
              </a:rPr>
              <a:t>All 1425 chunks  ·  473 fault  ·  952 normal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9194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FB950"/>
                </a:solidFill>
              </a:rPr>
              <a:t>fault   P=1.00  R=1.00  F1=1.00  (473 chunks)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2395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A6FF"/>
                </a:solidFill>
              </a:rPr>
              <a:t>normal  P=1.00  R=1.00  F1=1.00  (952 chunks)</a:t>
            </a:r>
          </a:p>
        </p:txBody>
      </p:sp>
      <p:pic>
        <p:nvPicPr>
          <p:cNvPr id="24" name="Picture 23" descr="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17320"/>
            <a:ext cx="6400800" cy="3200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486400" y="4663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949E"/>
                </a:solidFill>
              </a:rPr>
              <a:t>Training Convergence</a:t>
            </a:r>
          </a:p>
        </p:txBody>
      </p:sp>
      <p:pic>
        <p:nvPicPr>
          <p:cNvPr id="26" name="Picture 25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4983480"/>
            <a:ext cx="3200400" cy="1645920"/>
          </a:xfrm>
          <a:prstGeom prst="rect">
            <a:avLst/>
          </a:prstGeom>
        </p:spPr>
      </p:pic>
      <p:pic>
        <p:nvPicPr>
          <p:cNvPr id="27" name="Picture 26" descr="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4983480"/>
            <a:ext cx="3108960" cy="1645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