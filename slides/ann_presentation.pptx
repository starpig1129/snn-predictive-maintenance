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solidFill>
                  <a:srgbClr val="8B949E"/>
                </a:solidFill>
              </a:rPr>
              <a:t>mem(t) dynamics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</c:v>
                </c:pt>
              </c:strCache>
            </c:strRef>
          </c:tx>
          <c:spPr>
            <a:ln w="31750">
              <a:solidFill>
                <a:srgbClr val="3FB950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t0</c:v>
                </c:pt>
                <c:pt idx="1">
                  <c:v>t1</c:v>
                </c:pt>
                <c:pt idx="2">
                  <c:v>t2</c:v>
                </c:pt>
                <c:pt idx="3">
                  <c:v>t3</c:v>
                </c:pt>
                <c:pt idx="4">
                  <c:v>t4</c:v>
                </c:pt>
                <c:pt idx="5">
                  <c:v>t5</c:v>
                </c:pt>
                <c:pt idx="6">
                  <c:v>t6</c:v>
                </c:pt>
                <c:pt idx="7">
                  <c:v>t7</c:v>
                </c:pt>
                <c:pt idx="8">
                  <c:v>t8</c:v>
                </c:pt>
                <c:pt idx="9">
                  <c:v>t9</c:v>
                </c:pt>
                <c:pt idx="10">
                  <c:v>t10</c:v>
                </c:pt>
                <c:pt idx="11">
                  <c:v>t11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0.02</c:v>
                </c:pt>
                <c:pt idx="1">
                  <c:v>0.16</c:v>
                </c:pt>
                <c:pt idx="2">
                  <c:v>0.35</c:v>
                </c:pt>
                <c:pt idx="3">
                  <c:v>0.58</c:v>
                </c:pt>
                <c:pt idx="4">
                  <c:v>0.8</c:v>
                </c:pt>
                <c:pt idx="5">
                  <c:v>1.05</c:v>
                </c:pt>
                <c:pt idx="6">
                  <c:v>0.05</c:v>
                </c:pt>
                <c:pt idx="7">
                  <c:v>0.18</c:v>
                </c:pt>
                <c:pt idx="8">
                  <c:v>0.4</c:v>
                </c:pt>
                <c:pt idx="9">
                  <c:v>0.68</c:v>
                </c:pt>
                <c:pt idx="10">
                  <c:v>0.92</c:v>
                </c:pt>
                <c:pt idx="11">
                  <c:v>0.08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>
                <a:solidFill>
                  <a:srgbClr val="8B949E"/>
                </a:solidFill>
              </a:rPr>
              <a:t>Training Loss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</c:v>
                </c:pt>
              </c:strCache>
            </c:strRef>
          </c:tx>
          <c:spPr>
            <a:ln w="31750">
              <a:solidFill>
                <a:srgbClr val="3FB950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Ep 1</c:v>
                </c:pt>
                <c:pt idx="1">
                  <c:v>Ep 2</c:v>
                </c:pt>
                <c:pt idx="2">
                  <c:v>Ep 3</c:v>
                </c:pt>
                <c:pt idx="3">
                  <c:v>Ep 4</c:v>
                </c:pt>
                <c:pt idx="4">
                  <c:v>Ep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1.4727</c:v>
                </c:pt>
                <c:pt idx="1">
                  <c:v>0.5</c:v>
                </c:pt>
                <c:pt idx="2">
                  <c:v>0.09</c:v>
                </c:pt>
                <c:pt idx="3">
                  <c:v>0.01</c:v>
                </c:pt>
                <c:pt idx="4">
                  <c:v>0.0001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0"/>
            <a:ext cx="6089904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0F6FC"/>
                </a:solidFill>
              </a:rPr>
              <a:t>Streaming Spiking Neural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FB950"/>
                </a:solidFill>
              </a:rPr>
              <a:t>for Real-Time Fault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B949E"/>
                </a:solidFill>
              </a:rPr>
              <a:t>LIF Neurons  ·  Surrogate Gradient  ·  TBPTT  ·  Edge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84F58"/>
                </a:solidFill>
              </a:rPr>
              <a:t>Artificial Neural Networks  ·  Final Report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21262D"/>
                </a:solidFill>
              </a:rPr>
              <a:t>mem(t) = β · mem(t−1) + W · spike(t)    ·    fire if mem ≥ θ    ·    97 parameters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F58"/>
                </a:solidFill>
              </a:rPr>
              <a:t>ANN Course · SNN Predictive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F6FC"/>
                </a:solidFill>
              </a:rPr>
              <a:t>From ANN to Spiking Neural Network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25880"/>
            <a:ext cx="12188952" cy="0"/>
          </a:xfrm>
          <a:prstGeom prst="line">
            <a:avLst/>
          </a:prstGeom>
          <a:ln w="1524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57432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4599432"/>
              </a:tblGrid>
              <a:tr h="861060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30363D"/>
                          </a:solidFill>
                        </a:rPr>
                        <a:t>Property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D29922"/>
                          </a:solidFill>
                        </a:rPr>
                        <a:t>Traditional ANN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3FB950"/>
                          </a:solidFill>
                        </a:rPr>
                        <a:t>Spiking Neural Network (SNN)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8610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8B949E"/>
                          </a:solidFill>
                        </a:rPr>
                        <a:t>Activation</a:t>
                      </a:r>
                    </a:p>
                  </a:txBody>
                  <a:tcPr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0F6FC"/>
                          </a:solidFill>
                        </a:rPr>
                        <a:t>Continuous  (0.0 – 1.0)</a:t>
                      </a:r>
                    </a:p>
                  </a:txBody>
                  <a:tcPr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FB950"/>
                          </a:solidFill>
                        </a:rPr>
                        <a:t>Binary spikes  (0 or 1)</a:t>
                      </a:r>
                    </a:p>
                  </a:txBody>
                  <a:tcPr>
                    <a:solidFill>
                      <a:srgbClr val="0A0E14"/>
                    </a:solidFill>
                  </a:tcPr>
                </a:tc>
              </a:tr>
              <a:tr h="8610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8B949E"/>
                          </a:solidFill>
                        </a:rPr>
                        <a:t>Communication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0F6FC"/>
                          </a:solidFill>
                        </a:rPr>
                        <a:t>Dense float vectors  (all active)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FB950"/>
                          </a:solidFill>
                        </a:rPr>
                        <a:t>Sparse events  (only firing)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8610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8B949E"/>
                          </a:solidFill>
                        </a:rPr>
                        <a:t>Temporal State</a:t>
                      </a:r>
                    </a:p>
                  </a:txBody>
                  <a:tcPr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0F6FC"/>
                          </a:solidFill>
                        </a:rPr>
                        <a:t>Stateless  (no memory)</a:t>
                      </a:r>
                    </a:p>
                  </a:txBody>
                  <a:tcPr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FB950"/>
                          </a:solidFill>
                        </a:rPr>
                        <a:t>Membrane potential  (persistent)</a:t>
                      </a:r>
                    </a:p>
                  </a:txBody>
                  <a:tcPr>
                    <a:solidFill>
                      <a:srgbClr val="0A0E14"/>
                    </a:solidFill>
                  </a:tcPr>
                </a:tc>
              </a:tr>
              <a:tr h="8610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8B949E"/>
                          </a:solidFill>
                        </a:rPr>
                        <a:t>Gradient Method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0F6FC"/>
                          </a:solidFill>
                        </a:rPr>
                        <a:t>Standard backprop  (differentiable)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FB950"/>
                          </a:solidFill>
                        </a:rPr>
                        <a:t>Surrogate gradient  (non-diff. spike)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8610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8B949E"/>
                          </a:solidFill>
                        </a:rPr>
                        <a:t>Edge Efficiency</a:t>
                      </a:r>
                    </a:p>
                  </a:txBody>
                  <a:tcPr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0F6FC"/>
                          </a:solidFill>
                        </a:rPr>
                        <a:t>Heavy  (float multiply per step)</a:t>
                      </a:r>
                    </a:p>
                  </a:txBody>
                  <a:tcPr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FB950"/>
                          </a:solidFill>
                        </a:rPr>
                        <a:t>Light  (binary: add only, no multiply)</a:t>
                      </a:r>
                    </a:p>
                  </a:txBody>
                  <a:tcPr>
                    <a:solidFill>
                      <a:srgbClr val="0A0E1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F58"/>
                </a:solidFill>
              </a:rPr>
              <a:t>ANN Course · SNN Predictive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F6FC"/>
                </a:solidFill>
              </a:rPr>
              <a:t>Leaky Integrate-and-Fire Neuron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25880"/>
            <a:ext cx="12188952" cy="0"/>
          </a:xfrm>
          <a:prstGeom prst="line">
            <a:avLst/>
          </a:prstGeom>
          <a:ln w="1524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65760" y="1463040"/>
            <a:ext cx="7315200" cy="77724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3FB950"/>
                </a:solidFill>
              </a:rPr>
              <a:t>mem(t) = β · mem(t−1)  +  W · spike(t)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F6FC"/>
                </a:solidFill>
              </a:rPr>
              <a:t>if mem(t) ≥ θ :   emit spike ;   mem(t) −= θ   ← soft reset (not zero)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377440"/>
            <a:ext cx="7315200" cy="34747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29922"/>
                </a:solidFill>
              </a:rPr>
              <a:t>Parameter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4871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29922"/>
                </a:solidFill>
              </a:rPr>
              <a:t>Value / 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48716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29922"/>
                </a:solidFill>
              </a:rPr>
              <a:t>Role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" y="2880360"/>
            <a:ext cx="7315200" cy="0"/>
          </a:xfrm>
          <a:prstGeom prst="line">
            <a:avLst/>
          </a:prstGeom>
          <a:ln w="1270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29718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β  (beta)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9718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6FC"/>
                </a:solidFill>
              </a:rPr>
              <a:t>(0, 1) — LEARNED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9718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leak factor · controls decay speed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301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θ  (threshold)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63016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6FC"/>
                </a:solidFill>
              </a:rPr>
              <a:t>1.0 — fixed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63016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fire level · soft reset preserves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8853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W  (weights)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28853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6FC"/>
                </a:solidFill>
              </a:rPr>
              <a:t>[32,1] matrix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288536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synaptic · learned via surrogate BPTT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46904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x(t)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94690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6FC"/>
                </a:solidFill>
              </a:rPr>
              <a:t>{0, 1} binary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946904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delta modulation of accelerometer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7955279" y="1463040"/>
          <a:ext cx="39319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7955279" y="1463040"/>
            <a:ext cx="3931920" cy="4389120"/>
          </a:xfrm>
          <a:prstGeom prst="roundRect">
            <a:avLst/>
          </a:prstGeom>
          <a:solidFill>
            <a:srgbClr val="0A0E14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32004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FB950"/>
                </a:solidFill>
              </a:rPr>
              <a:t>mem rises → fires at θ=1.0
soft reset → rises again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989320"/>
            <a:ext cx="11457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84F58"/>
                </a:solidFill>
              </a:rPr>
              <a:t>Soft reset (mem−=θ) preserves sub-threshold energy — more info than hard zero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F58"/>
                </a:solidFill>
              </a:rPr>
              <a:t>ANN Course · SNN Predictive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F6FC"/>
                </a:solidFill>
              </a:rPr>
              <a:t>Delta Modulation — Spike Encoding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25880"/>
            <a:ext cx="12188952" cy="0"/>
          </a:xfrm>
          <a:prstGeom prst="line">
            <a:avLst/>
          </a:prstGeom>
          <a:ln w="1524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65760" y="1417320"/>
            <a:ext cx="5303520" cy="5943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8A6FF"/>
                </a:solidFill>
              </a:rPr>
              <a:t>Biological Inspiration: retinal ganglion cells fire on luminance CHANGE, not absolute level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17320"/>
            <a:ext cx="5852160" cy="594360"/>
          </a:xfrm>
          <a:prstGeom prst="roundRect">
            <a:avLst/>
          </a:prstGeom>
          <a:solidFill>
            <a:srgbClr val="0F3D20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60" y="150876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3FB950"/>
                </a:solidFill>
              </a:rPr>
              <a:t>spike(t) = 1  if  |Δaccel| &gt; θ = 0.05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8A6FF"/>
                </a:solidFill>
              </a:rPr>
              <a:t>NORMAL  Bearing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514600"/>
            <a:ext cx="5303520" cy="1005840"/>
          </a:xfrm>
          <a:prstGeom prst="roundRect">
            <a:avLst/>
          </a:prstGeom>
          <a:solidFill>
            <a:srgbClr val="0A0E14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163824"/>
            <a:ext cx="201168" cy="1645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59" y="3227832"/>
            <a:ext cx="201168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" y="3163824"/>
            <a:ext cx="201168" cy="1645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1600" y="3227832"/>
            <a:ext cx="201168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45919" y="3163824"/>
            <a:ext cx="201168" cy="1645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20240" y="3227832"/>
            <a:ext cx="201168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94560" y="3163824"/>
            <a:ext cx="201168" cy="1645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0" y="3227832"/>
            <a:ext cx="201168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63824"/>
            <a:ext cx="201168" cy="1645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17520" y="3227832"/>
            <a:ext cx="201168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3163824"/>
            <a:ext cx="201168" cy="1645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66160" y="3227832"/>
            <a:ext cx="201168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79" y="3163824"/>
            <a:ext cx="201168" cy="1645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0" y="3227832"/>
            <a:ext cx="201168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3163824"/>
            <a:ext cx="201168" cy="1645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63440" y="3227832"/>
            <a:ext cx="201168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37759" y="3163824"/>
            <a:ext cx="201168" cy="1645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2079" y="3227832"/>
            <a:ext cx="201168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65760" y="3611880"/>
            <a:ext cx="5303520" cy="822960"/>
          </a:xfrm>
          <a:prstGeom prst="roundRect">
            <a:avLst/>
          </a:prstGeom>
          <a:solidFill>
            <a:srgbClr val="0A0E14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57200" y="4251960"/>
            <a:ext cx="5120640" cy="0"/>
          </a:xfrm>
          <a:prstGeom prst="line">
            <a:avLst/>
          </a:prstGeom>
          <a:ln w="12700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22960" y="3822191"/>
            <a:ext cx="50292" cy="2743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554480" y="3822191"/>
            <a:ext cx="50292" cy="2743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77440" y="3822191"/>
            <a:ext cx="50292" cy="2743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0" y="3822191"/>
            <a:ext cx="50292" cy="2743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49039" y="3822191"/>
            <a:ext cx="50292" cy="2743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80560" y="3822191"/>
            <a:ext cx="50292" cy="2743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212080" y="3822191"/>
            <a:ext cx="50292" cy="2743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22960" y="4572000"/>
            <a:ext cx="4389120" cy="594360"/>
          </a:xfrm>
          <a:prstGeom prst="roundRect">
            <a:avLst/>
          </a:prstGeom>
          <a:solidFill>
            <a:srgbClr val="0F2A4A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709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8A6FF"/>
                </a:solidFill>
              </a:rPr>
              <a:t>Spike Rate  0.185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21488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85149"/>
                </a:solidFill>
              </a:rPr>
              <a:t>FAULT  Bearing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2514600"/>
            <a:ext cx="5303520" cy="1005840"/>
          </a:xfrm>
          <a:prstGeom prst="roundRect">
            <a:avLst/>
          </a:prstGeom>
          <a:solidFill>
            <a:srgbClr val="0A0E14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92240" y="2971800"/>
            <a:ext cx="274320" cy="4572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903720" y="3163824"/>
            <a:ext cx="274320" cy="73152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15200" y="2971800"/>
            <a:ext cx="274320" cy="4572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26679" y="3163824"/>
            <a:ext cx="274320" cy="73152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38160" y="2971800"/>
            <a:ext cx="274320" cy="4572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549640" y="3163824"/>
            <a:ext cx="274320" cy="73152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961120" y="2971800"/>
            <a:ext cx="274320" cy="4572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372600" y="3163824"/>
            <a:ext cx="274320" cy="73152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784080" y="2971800"/>
            <a:ext cx="274320" cy="4572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195559" y="3163824"/>
            <a:ext cx="274320" cy="73152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607040" y="2971800"/>
            <a:ext cx="274320" cy="4572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018520" y="3163824"/>
            <a:ext cx="274320" cy="73152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400800" y="3611880"/>
            <a:ext cx="5303520" cy="822960"/>
          </a:xfrm>
          <a:prstGeom prst="roundRect">
            <a:avLst/>
          </a:prstGeom>
          <a:solidFill>
            <a:srgbClr val="0A0E14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6492240" y="4251960"/>
            <a:ext cx="5120640" cy="0"/>
          </a:xfrm>
          <a:prstGeom prst="line">
            <a:avLst/>
          </a:prstGeom>
          <a:ln w="12700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653796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62940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72084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81228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90372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99516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08660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17804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26948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36092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45236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54380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63524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72668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81812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90956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00100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09244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18388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27532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36676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45820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54964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64108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73252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82396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91540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00684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09828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18972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28116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7260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46404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55548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64692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73836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82980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92124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01268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10412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19556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28700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37844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46988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56132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65276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74420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83564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92708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101852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110996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120140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129284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138428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1475720" y="3822191"/>
            <a:ext cx="59436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6949440" y="4572000"/>
            <a:ext cx="4389120" cy="594360"/>
          </a:xfrm>
          <a:prstGeom prst="roundRect">
            <a:avLst/>
          </a:prstGeom>
          <a:solidFill>
            <a:srgbClr val="3D0F0F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040880" y="4709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85149"/>
                </a:solidFill>
              </a:rPr>
              <a:t>Spike Rate  0.854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371600" y="5394960"/>
            <a:ext cx="9445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FB950"/>
                </a:solidFill>
              </a:rPr>
              <a:t>4.6× difference  →  directly classifiable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6099048" y="2103120"/>
            <a:ext cx="0" cy="3108960"/>
          </a:xfrm>
          <a:prstGeom prst="line">
            <a:avLst/>
          </a:prstGeom>
          <a:ln w="1270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F58"/>
                </a:solidFill>
              </a:rPr>
              <a:t>ANN Course · SNN Predictive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F6FC"/>
                </a:solidFill>
              </a:rPr>
              <a:t>Windowed SNN  vs  Streaming SNN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25880"/>
            <a:ext cx="12188952" cy="0"/>
          </a:xfrm>
          <a:prstGeom prst="line">
            <a:avLst/>
          </a:prstGeom>
          <a:ln w="1524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1417320"/>
            <a:ext cx="5394960" cy="502920"/>
          </a:xfrm>
          <a:prstGeom prst="roundRect">
            <a:avLst/>
          </a:prstGeom>
          <a:solidFill>
            <a:srgbClr val="3D0F0F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85149"/>
                </a:solidFill>
              </a:rPr>
              <a:t>❌  Windowed  (old approach)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011680"/>
            <a:ext cx="5394960" cy="914400"/>
          </a:xfrm>
          <a:prstGeom prst="roundRect">
            <a:avLst/>
          </a:prstGeom>
          <a:solidFill>
            <a:srgbClr val="0A0E14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Buffer: [ x₁, x₂, ..., x₁₂₈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84F58"/>
                </a:solidFill>
              </a:rPr>
              <a:t>must wait 128 samples before first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4480560" cy="777240"/>
          </a:xfrm>
          <a:prstGeom prst="roundRect">
            <a:avLst/>
          </a:prstGeom>
          <a:solidFill>
            <a:srgbClr val="3D0F0F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85149"/>
                </a:solidFill>
              </a:rPr>
              <a:t>FC1:  Linear(128 → 32)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29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</a:rPr>
              <a:t>WINDOW size baked into weight matrix!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977639"/>
            <a:ext cx="5394960" cy="14630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0965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5149"/>
                </a:solidFill>
              </a:rPr>
              <a:t>Problems: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4348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• Changing window = full retrain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75487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• Waits 128 samples before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0749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• Window boundary artifacts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577840"/>
            <a:ext cx="4480560" cy="5943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7150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85149"/>
                </a:solidFill>
              </a:rPr>
              <a:t>Params:  128×32 + 32×2 = 4,160  ·  16 KB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43600" y="1417320"/>
            <a:ext cx="0" cy="5074920"/>
          </a:xfrm>
          <a:prstGeom prst="line">
            <a:avLst/>
          </a:prstGeom>
          <a:ln w="2540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23560" y="374903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B949E"/>
                </a:solidFill>
              </a:rPr>
              <a:t>VS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417320"/>
            <a:ext cx="5577840" cy="502920"/>
          </a:xfrm>
          <a:prstGeom prst="roundRect">
            <a:avLst/>
          </a:prstGeom>
          <a:solidFill>
            <a:srgbClr val="0F3D20"/>
          </a:solidFill>
          <a:ln w="317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5087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FB950"/>
                </a:solidFill>
              </a:rPr>
              <a:t>✓  Streaming  (this work)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011680"/>
            <a:ext cx="5577840" cy="914400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1762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FB950"/>
                </a:solidFill>
              </a:rPr>
              <a:t>one spike scalar per timestep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487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84F58"/>
                </a:solidFill>
              </a:rPr>
              <a:t>instant output, no buffer needed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3063240"/>
            <a:ext cx="4846320" cy="777240"/>
          </a:xfrm>
          <a:prstGeom prst="roundRect">
            <a:avLst/>
          </a:prstGeom>
          <a:solidFill>
            <a:srgbClr val="0F3D20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320040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FB950"/>
                </a:solidFill>
              </a:rPr>
              <a:t>FC1:  Linear(1 → 32)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4290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</a:rPr>
              <a:t>no window dependency, scalar input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977639"/>
            <a:ext cx="5577840" cy="1463040"/>
          </a:xfrm>
          <a:prstGeom prst="roundRect">
            <a:avLst/>
          </a:prstGeom>
          <a:solidFill>
            <a:srgbClr val="0F3D20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9651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Key Innovation: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43484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• mem₁ never reset between samples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754879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• Temporal context spans entire stream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0749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• Decision every 200 steps (≈1 second)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5577840"/>
            <a:ext cx="4846320" cy="594360"/>
          </a:xfrm>
          <a:prstGeom prst="roundRect">
            <a:avLst/>
          </a:prstGeom>
          <a:solidFill>
            <a:srgbClr val="0F3D20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571500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FB950"/>
                </a:solidFill>
              </a:rPr>
              <a:t>Params:  32 + 64 + 1 = 97  ·  0.38 KB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0F6FC"/>
                </a:solidFill>
              </a:rPr>
              <a:t>43× fewer parameters · truly real-time · no window coupling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F58"/>
                </a:solidFill>
              </a:rPr>
              <a:t>ANN Course · SNN Predictive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F6FC"/>
                </a:solidFill>
              </a:rPr>
              <a:t>Network Architecture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25880"/>
            <a:ext cx="12188952" cy="0"/>
          </a:xfrm>
          <a:prstGeom prst="line">
            <a:avLst/>
          </a:prstGeom>
          <a:ln w="1524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14400" y="1417320"/>
            <a:ext cx="10360152" cy="475488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90472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3FB950"/>
                </a:solidFill>
              </a:rPr>
              <a:t>cur₁ = FC1(spike)  →  spk₁, mem₁ = LIF1(cur₁, mem₁)  →  logit += FC2(spk₁)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057400"/>
            <a:ext cx="1691640" cy="1645920"/>
          </a:xfrm>
          <a:prstGeom prst="roundRect">
            <a:avLst/>
          </a:prstGeom>
          <a:solidFill>
            <a:srgbClr val="0A0E14"/>
          </a:solidFill>
          <a:ln w="317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28600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spike(t)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53512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{0,1}
δ-mod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84248" y="2880360"/>
            <a:ext cx="219455" cy="0"/>
          </a:xfrm>
          <a:prstGeom prst="line">
            <a:avLst/>
          </a:prstGeom>
          <a:ln w="2540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240279" y="2057400"/>
            <a:ext cx="1691640" cy="1645920"/>
          </a:xfrm>
          <a:prstGeom prst="roundRect">
            <a:avLst/>
          </a:prstGeom>
          <a:solidFill>
            <a:srgbClr val="0F2A4A"/>
          </a:solidFill>
          <a:ln w="317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228600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FC1
Linear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953512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W₁:[32,1]
no bias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50207" y="2880360"/>
            <a:ext cx="219456" cy="0"/>
          </a:xfrm>
          <a:prstGeom prst="line">
            <a:avLst/>
          </a:prstGeom>
          <a:ln w="2540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06240" y="2057400"/>
            <a:ext cx="1691640" cy="1645920"/>
          </a:xfrm>
          <a:prstGeom prst="roundRect">
            <a:avLst/>
          </a:prstGeom>
          <a:solidFill>
            <a:srgbClr val="0F3D20"/>
          </a:solidFill>
          <a:ln w="317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79" y="228600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LIF1
Leaky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79" y="2953512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β learned
mem persists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16167" y="2880360"/>
            <a:ext cx="219456" cy="0"/>
          </a:xfrm>
          <a:prstGeom prst="line">
            <a:avLst/>
          </a:prstGeom>
          <a:ln w="2540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72199" y="2057400"/>
            <a:ext cx="1691640" cy="1645920"/>
          </a:xfrm>
          <a:prstGeom prst="roundRect">
            <a:avLst/>
          </a:prstGeom>
          <a:solidFill>
            <a:srgbClr val="0F2A4A"/>
          </a:solidFill>
          <a:ln w="317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39" y="228600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FC2
Linear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39" y="2953512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W₂:[2,32]
no bias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82127" y="2880360"/>
            <a:ext cx="219457" cy="0"/>
          </a:xfrm>
          <a:prstGeom prst="line">
            <a:avLst/>
          </a:prstGeom>
          <a:ln w="2540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138160" y="2057400"/>
            <a:ext cx="1691640" cy="1645920"/>
          </a:xfrm>
          <a:prstGeom prst="roundRect">
            <a:avLst/>
          </a:prstGeom>
          <a:solidFill>
            <a:srgbClr val="161B22"/>
          </a:solidFill>
          <a:ln w="3175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28600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Σ logit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953512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+= FC2(spk₁)
200 steps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848088" y="2880360"/>
            <a:ext cx="219456" cy="0"/>
          </a:xfrm>
          <a:prstGeom prst="line">
            <a:avLst/>
          </a:prstGeom>
          <a:ln w="2540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104120" y="2057400"/>
            <a:ext cx="1691640" cy="1645920"/>
          </a:xfrm>
          <a:prstGeom prst="roundRect">
            <a:avLst/>
          </a:prstGeom>
          <a:solidFill>
            <a:srgbClr val="0F3D20"/>
          </a:solidFill>
          <a:ln w="317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95560" y="228600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argmax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2953512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Normal
Fault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3886200"/>
            <a:ext cx="11640312" cy="1691640"/>
          </a:xfrm>
          <a:prstGeom prst="roundRect">
            <a:avLst/>
          </a:prstGeom>
          <a:solidFill>
            <a:srgbClr val="0A0E14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977639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F58"/>
                </a:solidFill>
              </a:rPr>
              <a:t>// Per timestep (5 ms, 200 Hz on ESP32):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251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FB950"/>
                </a:solidFill>
              </a:rPr>
              <a:t>spike = (|az−prev| &gt; θ) ? 1.0 : 0.0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55371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8A6FF"/>
                </a:solidFill>
              </a:rPr>
              <a:t>for j in 0..31: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82803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8A6FF"/>
                </a:solidFill>
              </a:rPr>
              <a:t>  mem1[j] = β·mem1[j] + spike·W1[j]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102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FB950"/>
                </a:solidFill>
              </a:rPr>
              <a:t>  if mem1[j]≥θ: { mem1[j]−=θ; out+=W2[j]; }  // no matrix multiply for binary input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42519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29922"/>
                </a:solidFill>
              </a:rPr>
              <a:t>if dec_count ≥ 200: classify = argmax(out_acc)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00400" y="5715000"/>
            <a:ext cx="5788152" cy="548640"/>
          </a:xfrm>
          <a:prstGeom prst="roundRect">
            <a:avLst/>
          </a:prstGeom>
          <a:solidFill>
            <a:srgbClr val="0F3D20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83280" y="582472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FB950"/>
                </a:solidFill>
              </a:rPr>
              <a:t>W₁(32) + W₂(64) + β(1) = 97 params total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F58"/>
                </a:solidFill>
              </a:rPr>
              <a:t>ANN Course · SNN Predictive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F6FC"/>
                </a:solidFill>
              </a:rPr>
              <a:t>Surrogate Gradient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25880"/>
            <a:ext cx="12188952" cy="0"/>
          </a:xfrm>
          <a:prstGeom prst="line">
            <a:avLst/>
          </a:prstGeom>
          <a:ln w="1524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65760" y="1417320"/>
            <a:ext cx="11457432" cy="530352"/>
          </a:xfrm>
          <a:prstGeom prst="roundRect">
            <a:avLst/>
          </a:prstGeom>
          <a:solidFill>
            <a:srgbClr val="3D0F0F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85149"/>
                </a:solidFill>
              </a:rPr>
              <a:t>Problem: ∂H(mem−θ)/∂mem = 0 everywhere  →  zero gradient  →  no learning!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057400"/>
            <a:ext cx="5394960" cy="4160520"/>
          </a:xfrm>
          <a:prstGeom prst="roundRect">
            <a:avLst/>
          </a:prstGeom>
          <a:solidFill>
            <a:srgbClr val="0A0E14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B949E"/>
                </a:solidFill>
              </a:rPr>
              <a:t>Forward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871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29922"/>
                </a:solidFill>
              </a:rPr>
              <a:t>spike = H(mem − θ)  (Heaviside)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5303520"/>
            <a:ext cx="4846320" cy="0"/>
          </a:xfrm>
          <a:prstGeom prst="line">
            <a:avLst/>
          </a:prstGeom>
          <a:ln w="1270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063240" y="2651760"/>
            <a:ext cx="0" cy="2926080"/>
          </a:xfrm>
          <a:prstGeom prst="line">
            <a:avLst/>
          </a:prstGeom>
          <a:ln w="1270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40080" y="5303520"/>
            <a:ext cx="2423160" cy="0"/>
          </a:xfrm>
          <a:prstGeom prst="line">
            <a:avLst/>
          </a:prstGeom>
          <a:ln w="38100">
            <a:solidFill>
              <a:srgbClr val="D299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063240" y="2926080"/>
            <a:ext cx="2423160" cy="0"/>
          </a:xfrm>
          <a:prstGeom prst="line">
            <a:avLst/>
          </a:prstGeom>
          <a:ln w="38100">
            <a:solidFill>
              <a:srgbClr val="D299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63240" y="2926080"/>
            <a:ext cx="0" cy="2377440"/>
          </a:xfrm>
          <a:prstGeom prst="line">
            <a:avLst/>
          </a:prstGeom>
          <a:ln w="38100">
            <a:solidFill>
              <a:srgbClr val="D299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200400" y="2697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29922"/>
                </a:solidFill>
              </a:rPr>
              <a:t>H(x)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8803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4F58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2303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4F58"/>
                </a:solidFill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46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5149"/>
                </a:solidFill>
              </a:rPr>
              <a:t>grad=0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5149"/>
                </a:solidFill>
              </a:rPr>
              <a:t>grad=0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534924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F58"/>
                </a:solidFill>
              </a:rPr>
              <a:t>mem−θ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2057400"/>
            <a:ext cx="5669280" cy="4160520"/>
          </a:xfrm>
          <a:prstGeom prst="roundRect">
            <a:avLst/>
          </a:prstGeom>
          <a:solidFill>
            <a:srgbClr val="0A0E14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1488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B949E"/>
                </a:solidFill>
              </a:rPr>
              <a:t>Backward Pass  (Surrogate)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4871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3FB950"/>
                </a:solidFill>
              </a:rPr>
              <a:t>grad ≈ σ'(slope·(mem−θ))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309360" y="5303520"/>
            <a:ext cx="5303520" cy="0"/>
          </a:xfrm>
          <a:prstGeom prst="line">
            <a:avLst/>
          </a:prstGeom>
          <a:ln w="1270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961120" y="2651760"/>
            <a:ext cx="0" cy="2926080"/>
          </a:xfrm>
          <a:prstGeom prst="line">
            <a:avLst/>
          </a:prstGeom>
          <a:ln w="1270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309360" y="5120640"/>
            <a:ext cx="640080" cy="164592"/>
          </a:xfrm>
          <a:prstGeom prst="line">
            <a:avLst/>
          </a:prstGeom>
          <a:ln w="31750">
            <a:solidFill>
              <a:srgbClr val="3FB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949440" y="4663440"/>
            <a:ext cx="548639" cy="457200"/>
          </a:xfrm>
          <a:prstGeom prst="line">
            <a:avLst/>
          </a:prstGeom>
          <a:ln w="31750">
            <a:solidFill>
              <a:srgbClr val="3FB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498079" y="3840480"/>
            <a:ext cx="640081" cy="822960"/>
          </a:xfrm>
          <a:prstGeom prst="line">
            <a:avLst/>
          </a:prstGeom>
          <a:ln w="31750">
            <a:solidFill>
              <a:srgbClr val="3FB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138160" y="3063240"/>
            <a:ext cx="365760" cy="777240"/>
          </a:xfrm>
          <a:prstGeom prst="line">
            <a:avLst/>
          </a:prstGeom>
          <a:ln w="31750">
            <a:solidFill>
              <a:srgbClr val="3FB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503920" y="2724912"/>
            <a:ext cx="457200" cy="338328"/>
          </a:xfrm>
          <a:prstGeom prst="line">
            <a:avLst/>
          </a:prstGeom>
          <a:ln w="31750">
            <a:solidFill>
              <a:srgbClr val="3FB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61120" y="2724912"/>
            <a:ext cx="457200" cy="338328"/>
          </a:xfrm>
          <a:prstGeom prst="line">
            <a:avLst/>
          </a:prstGeom>
          <a:ln w="31750">
            <a:solidFill>
              <a:srgbClr val="3FB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418320" y="3063240"/>
            <a:ext cx="365760" cy="777240"/>
          </a:xfrm>
          <a:prstGeom prst="line">
            <a:avLst/>
          </a:prstGeom>
          <a:ln w="31750">
            <a:solidFill>
              <a:srgbClr val="3FB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784080" y="3840480"/>
            <a:ext cx="640080" cy="822960"/>
          </a:xfrm>
          <a:prstGeom prst="line">
            <a:avLst/>
          </a:prstGeom>
          <a:ln w="31750">
            <a:solidFill>
              <a:srgbClr val="3FB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424160" y="4663440"/>
            <a:ext cx="548640" cy="457200"/>
          </a:xfrm>
          <a:prstGeom prst="line">
            <a:avLst/>
          </a:prstGeom>
          <a:ln w="31750">
            <a:solidFill>
              <a:srgbClr val="3FB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972800" y="5120640"/>
            <a:ext cx="640080" cy="164592"/>
          </a:xfrm>
          <a:prstGeom prst="line">
            <a:avLst/>
          </a:prstGeom>
          <a:ln w="31750">
            <a:solidFill>
              <a:srgbClr val="3FB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778240" y="24871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B950"/>
                </a:solidFill>
              </a:rPr>
              <a:t>peak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3840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B950"/>
                </a:solidFill>
              </a:rPr>
              <a:t>smooth everywhere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5349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F58"/>
                </a:solidFill>
              </a:rPr>
              <a:t>mem−θ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384048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→ replace gradient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6080760"/>
            <a:ext cx="11457432" cy="566928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19048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3FB950"/>
                </a:solidFill>
              </a:rPr>
              <a:t>σ'(x) = slope / (2·(1 + |slope·x|)²)    slope=5  →  peak=1.25 at x=0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F58"/>
                </a:solidFill>
              </a:rPr>
              <a:t>ANN Course · SNN Predictive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F6FC"/>
                </a:solidFill>
              </a:rPr>
              <a:t>Truncated BPTT  (TBPTT)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25880"/>
            <a:ext cx="12188952" cy="0"/>
          </a:xfrm>
          <a:prstGeom prst="line">
            <a:avLst/>
          </a:prstGeom>
          <a:ln w="1524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1417320"/>
            <a:ext cx="5669280" cy="530352"/>
          </a:xfrm>
          <a:prstGeom prst="roundRect">
            <a:avLst/>
          </a:prstGeom>
          <a:solidFill>
            <a:srgbClr val="3D0F0F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5149"/>
                </a:solidFill>
              </a:rPr>
              <a:t>Full BPTT: O(T) memory, T=120,000 → impractical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669280" cy="530352"/>
          </a:xfrm>
          <a:prstGeom prst="roundRect">
            <a:avLst/>
          </a:prstGeom>
          <a:solidFill>
            <a:srgbClr val="0F3D20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TBPTT: unroll C=256 steps · detach at boundary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B949E"/>
                </a:solidFill>
              </a:rPr>
              <a:t>Training: stream divided into chunks (T=256 each)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23160"/>
            <a:ext cx="1920240" cy="685800"/>
          </a:xfrm>
          <a:prstGeom prst="roundRect">
            <a:avLst/>
          </a:prstGeom>
          <a:solidFill>
            <a:srgbClr val="0F2A4A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8716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8A6FF"/>
                </a:solidFill>
              </a:rPr>
              <a:t>chunk 1
T=256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2423160"/>
            <a:ext cx="1920240" cy="685800"/>
          </a:xfrm>
          <a:prstGeom prst="roundRect">
            <a:avLst/>
          </a:prstGeom>
          <a:solidFill>
            <a:srgbClr val="0F3D20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248716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FB950"/>
                </a:solidFill>
              </a:rPr>
              <a:t>chunk 2
T=256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2423160"/>
            <a:ext cx="1920240" cy="685800"/>
          </a:xfrm>
          <a:prstGeom prst="roundRect">
            <a:avLst/>
          </a:prstGeom>
          <a:solidFill>
            <a:srgbClr val="0F2A4A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248716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8A6FF"/>
                </a:solidFill>
              </a:rPr>
              <a:t>chunk 3
T=256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79" y="2423160"/>
            <a:ext cx="1920240" cy="685800"/>
          </a:xfrm>
          <a:prstGeom prst="roundRect">
            <a:avLst/>
          </a:prstGeom>
          <a:solidFill>
            <a:srgbClr val="0F3D20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599" y="248716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FB950"/>
                </a:solidFill>
              </a:rPr>
              <a:t>chunk 4
T=256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423160"/>
            <a:ext cx="1920240" cy="685800"/>
          </a:xfrm>
          <a:prstGeom prst="roundRect">
            <a:avLst/>
          </a:prstGeom>
          <a:solidFill>
            <a:srgbClr val="0F2A4A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248716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8A6FF"/>
                </a:solidFill>
              </a:rPr>
              <a:t>chunk 5
T=256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155680" y="2423160"/>
            <a:ext cx="822960" cy="6858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01400" y="26060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84F58"/>
                </a:solidFill>
              </a:rPr>
              <a:t>...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1417320" y="2103120"/>
            <a:ext cx="0" cy="320040"/>
          </a:xfrm>
          <a:prstGeom prst="line">
            <a:avLst/>
          </a:prstGeom>
          <a:ln w="19050">
            <a:solidFill>
              <a:srgbClr val="3FB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611880" y="2103120"/>
            <a:ext cx="0" cy="320040"/>
          </a:xfrm>
          <a:prstGeom prst="line">
            <a:avLst/>
          </a:prstGeom>
          <a:ln w="19050">
            <a:solidFill>
              <a:srgbClr val="3FB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806440" y="2103120"/>
            <a:ext cx="0" cy="320040"/>
          </a:xfrm>
          <a:prstGeom prst="line">
            <a:avLst/>
          </a:prstGeom>
          <a:ln w="19050">
            <a:solidFill>
              <a:srgbClr val="3FB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001000" y="2103120"/>
            <a:ext cx="0" cy="320040"/>
          </a:xfrm>
          <a:prstGeom prst="line">
            <a:avLst/>
          </a:prstGeom>
          <a:ln w="19050">
            <a:solidFill>
              <a:srgbClr val="3FB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2920" y="1938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B950"/>
                </a:solidFill>
              </a:rPr>
              <a:t>∂L/∂W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1938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B950"/>
                </a:solidFill>
              </a:rPr>
              <a:t>∂L/∂W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2651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85149"/>
                </a:solidFill>
              </a:rPr>
              <a:t>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2651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85149"/>
                </a:solidFill>
              </a:rPr>
              <a:t>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2651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85149"/>
                </a:solidFill>
              </a:rPr>
              <a:t>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59" y="2651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85149"/>
                </a:solidFill>
              </a:rPr>
              <a:t>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246120"/>
            <a:ext cx="10789920" cy="411480"/>
          </a:xfrm>
          <a:prstGeom prst="rect">
            <a:avLst/>
          </a:prstGeom>
          <a:solidFill>
            <a:srgbClr val="0F2A4A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2918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mem₁ persistent  →  carries temporal context across ALL chunks during INFERENCE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" y="3794760"/>
            <a:ext cx="6217920" cy="1828800"/>
          </a:xfrm>
          <a:prstGeom prst="roundRect">
            <a:avLst/>
          </a:prstGeom>
          <a:solidFill>
            <a:srgbClr val="0A0E14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8862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84F58"/>
                </a:solidFill>
              </a:rPr>
              <a:t>Training code: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1605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FB950"/>
                </a:solidFill>
              </a:rPr>
              <a:t>for chunk in chunks: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45312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</a:rPr>
              <a:t>  mem1 = mem1.detach()   # stop gradient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74573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8A6FF"/>
                </a:solidFill>
              </a:rPr>
              <a:t>  out, mem1 = model(chunk, mem1)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03834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29922"/>
                </a:solidFill>
              </a:rPr>
              <a:t>  loss = criterion(out, label)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33095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FB950"/>
                </a:solidFill>
              </a:rPr>
              <a:t>  loss.backward(); optimizer.step()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66560" y="3794760"/>
            <a:ext cx="5120640" cy="18288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0" y="38862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29922"/>
                </a:solidFill>
              </a:rPr>
              <a:t>Trade-offs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422452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69480" y="422452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Memory: O(256) not O(120,000)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45720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4572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Stable on long sequences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49194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5149"/>
                </a:solidFill>
              </a:rPr>
              <a:t>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9480" y="49194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Loses dependencies &gt; 256 steps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526694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</a:rP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26694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mem₁ bridges long context at inference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F58"/>
                </a:solidFill>
              </a:rPr>
              <a:t>Machine Learning · SNN Predictive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F6FC"/>
                </a:solidFill>
              </a:rPr>
              <a:t>Training Results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25880"/>
            <a:ext cx="12188952" cy="0"/>
          </a:xfrm>
          <a:prstGeom prst="line">
            <a:avLst/>
          </a:prstGeom>
          <a:ln w="1524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463040"/>
          <a:ext cx="54864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1463040"/>
            <a:ext cx="5486400" cy="4846320"/>
          </a:xfrm>
          <a:prstGeom prst="roundRect">
            <a:avLst/>
          </a:prstGeom>
          <a:solidFill>
            <a:srgbClr val="0A0E14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FB950"/>
                </a:solidFill>
              </a:rPr>
              <a:t>Loss: 1.47 → 0.50 → 0.09 → 0.01 → 0.0001
(converges in 5 epochs)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394960" cy="4114800"/>
          </a:xfrm>
          <a:prstGeom prst="roundRect">
            <a:avLst/>
          </a:prstGeom>
          <a:solidFill>
            <a:srgbClr val="0F3D20"/>
          </a:solidFill>
          <a:ln w="381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3FB950"/>
                </a:solidFill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749039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F6FC"/>
                </a:solidFill>
              </a:rPr>
              <a:t>Test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251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B949E"/>
                </a:solidFill>
              </a:rPr>
              <a:t>285 test chunks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989320"/>
            <a:ext cx="11274552" cy="6400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1081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FB950"/>
                </a:solidFill>
              </a:rPr>
              <a:t>Fault:   P=1.00   R=1.00   F1=1.00  (102 chunks)       Normal:   P=1.00   R=1.00   F1=1.00  (183 chunks)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F58"/>
                </a:solidFill>
              </a:rPr>
              <a:t>ANN Course · SNN Predictive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F6FC"/>
                </a:solidFill>
              </a:rPr>
              <a:t>Edge Deployment — ESP32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25880"/>
            <a:ext cx="12188952" cy="0"/>
          </a:xfrm>
          <a:prstGeom prst="line">
            <a:avLst/>
          </a:prstGeom>
          <a:ln w="1524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1417320"/>
            <a:ext cx="3200400" cy="5029200"/>
          </a:xfrm>
          <a:prstGeom prst="roundRect">
            <a:avLst/>
          </a:prstGeom>
          <a:solidFill>
            <a:srgbClr val="0A1A0A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FB950"/>
                </a:solidFill>
              </a:rPr>
              <a:t>ESP32 NodeMCU-32S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2286000" cy="12801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84831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Xtensa LX6
240 MHz · 520 KB RAM
Flash: 4 MB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29000"/>
            <a:ext cx="1280160" cy="731520"/>
          </a:xfrm>
          <a:prstGeom prst="roundRect">
            <a:avLst/>
          </a:prstGeom>
          <a:solidFill>
            <a:srgbClr val="1A1A2A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54787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8A6FF"/>
                </a:solidFill>
              </a:rPr>
              <a:t>MPU6050
I2C·200Hz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3429000"/>
            <a:ext cx="1280160" cy="731520"/>
          </a:xfrm>
          <a:prstGeom prst="roundRect">
            <a:avLst/>
          </a:prstGeom>
          <a:solidFill>
            <a:srgbClr val="1A1A0A"/>
          </a:solidFill>
          <a:ln w="1905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354787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29922"/>
                </a:solidFill>
              </a:rPr>
              <a:t>G · R · B
LEDs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43400"/>
            <a:ext cx="2286000" cy="5486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4622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Serial 115200 →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● Green = Normal
● Red flash = 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39" y="1417320"/>
            <a:ext cx="8138160" cy="5257800"/>
          </a:xfrm>
          <a:prstGeom prst="roundRect">
            <a:avLst/>
          </a:prstGeom>
          <a:solidFill>
            <a:srgbClr val="0A0E14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1508760"/>
            <a:ext cx="7909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84F58"/>
                </a:solidFill>
              </a:rPr>
              <a:t>// firmware/src/main.cpp  (-DINFERENCE_MODE)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1751076"/>
            <a:ext cx="7909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</a:rPr>
              <a:t>static float  mem1[SNN_HIDDEN] = {};  // never reset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1993391"/>
            <a:ext cx="7909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</a:rPr>
              <a:t>static float  out_acc[2]       = {};  // fault/normal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2235708"/>
            <a:ext cx="7909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2478024"/>
            <a:ext cx="7909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84F58"/>
                </a:solidFill>
              </a:rPr>
              <a:t>void loop() {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2720340"/>
            <a:ext cx="7909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</a:rPr>
              <a:t>  float az = mpu.getAccelZ();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2962656"/>
            <a:ext cx="7909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8A6FF"/>
                </a:solidFill>
              </a:rPr>
              <a:t>  // ─ delta encode 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3204972"/>
            <a:ext cx="7909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29922"/>
                </a:solidFill>
              </a:rPr>
              <a:t>  float spike = (|az-prev|&gt;THRESH) ? 1.0f : 0.0f;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3447288"/>
            <a:ext cx="7909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8A6FF"/>
                </a:solidFill>
              </a:rPr>
              <a:t>  // ─ FC1 + LIF1 (mem never zeroed) 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3689604"/>
            <a:ext cx="7909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FB950"/>
                </a:solidFill>
              </a:rPr>
              <a:t>  for (int j=0; j&lt;SNN_HIDDEN; j++) {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931920"/>
            <a:ext cx="7909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FB950"/>
                </a:solidFill>
              </a:rPr>
              <a:t>    mem1[j] = BETA*mem1[j] + spike*W1[j];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4174235"/>
            <a:ext cx="7909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FB950"/>
                </a:solidFill>
              </a:rPr>
              <a:t>    if (mem1[j]&gt;=THRESH1) {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4416552"/>
            <a:ext cx="7909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FB950"/>
                </a:solidFill>
              </a:rPr>
              <a:t>      mem1[j] -= THRESH1;         // soft reset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4658868"/>
            <a:ext cx="7909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85149"/>
                </a:solidFill>
              </a:rPr>
              <a:t>      out_acc[0] += W2[0*H+j];   // fault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4901183"/>
            <a:ext cx="7909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8A6FF"/>
                </a:solidFill>
              </a:rPr>
              <a:t>      out_acc[1] += W2[1*H+j];   // normal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5143500"/>
            <a:ext cx="7909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FB950"/>
                </a:solidFill>
              </a:rPr>
              <a:t>    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5385816"/>
            <a:ext cx="7909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FB950"/>
                </a:solidFill>
              </a:rPr>
              <a:t>  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0" y="5628131"/>
            <a:ext cx="7909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29922"/>
                </a:solidFill>
              </a:rPr>
              <a:t>  // ─ classify every 200 samples 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6200" y="5870448"/>
            <a:ext cx="7909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29922"/>
                </a:solidFill>
              </a:rPr>
              <a:t>  if (++dec &gt;= INTERVAL) { classify(); reset(); 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6112764"/>
            <a:ext cx="7909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84F58"/>
                </a:solidFill>
              </a:rPr>
              <a:t>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86200" y="6355080"/>
            <a:ext cx="7909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84F58"/>
                </a:solidFill>
              </a:rPr>
              <a:t>// Model: 0.38 KB · binary input = no matrix multiply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F58"/>
                </a:solidFill>
              </a:rPr>
              <a:t>ANN Course · SNN Predictive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F6FC"/>
                </a:solidFill>
              </a:rPr>
              <a:t>ANN vs SNN — Full Comparison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25880"/>
            <a:ext cx="12188952" cy="0"/>
          </a:xfrm>
          <a:prstGeom prst="line">
            <a:avLst/>
          </a:prstGeom>
          <a:ln w="1524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44752"/>
          <a:ext cx="11457432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434840"/>
                <a:gridCol w="4462272"/>
              </a:tblGrid>
              <a:tr h="65151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30363D"/>
                          </a:solidFill>
                        </a:rPr>
                        <a:t>Property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D29922"/>
                          </a:solidFill>
                        </a:rPr>
                        <a:t>Traditional ANN (MLP)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3FB950"/>
                          </a:solidFill>
                        </a:rPr>
                        <a:t>Streaming SNN (this work)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8B949E"/>
                          </a:solidFill>
                        </a:rPr>
                        <a:t>Activation</a:t>
                      </a:r>
                    </a:p>
                  </a:txBody>
                  <a:tcPr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6FC"/>
                          </a:solidFill>
                        </a:rPr>
                        <a:t>float32  ∈ [0, 1]</a:t>
                      </a:r>
                    </a:p>
                  </a:txBody>
                  <a:tcPr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FB950"/>
                          </a:solidFill>
                        </a:rPr>
                        <a:t>binary  {0, 1}  (spike)</a:t>
                      </a:r>
                    </a:p>
                  </a:txBody>
                  <a:tcPr>
                    <a:solidFill>
                      <a:srgbClr val="0A0E14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8B949E"/>
                          </a:solidFill>
                        </a:rPr>
                        <a:t>FC1 input size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6FC"/>
                          </a:solidFill>
                        </a:rPr>
                        <a:t>WINDOW = 128  ← fixed!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FB950"/>
                          </a:solidFill>
                        </a:rPr>
                        <a:t>1  (one spike per timestep)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8B949E"/>
                          </a:solidFill>
                        </a:rPr>
                        <a:t>Parameters</a:t>
                      </a:r>
                    </a:p>
                  </a:txBody>
                  <a:tcPr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6FC"/>
                          </a:solidFill>
                        </a:rPr>
                        <a:t>128×32 + 32×2 = 4,160</a:t>
                      </a:r>
                    </a:p>
                  </a:txBody>
                  <a:tcPr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FB950"/>
                          </a:solidFill>
                        </a:rPr>
                        <a:t>32 + 64 + 1 = 97</a:t>
                      </a:r>
                    </a:p>
                  </a:txBody>
                  <a:tcPr>
                    <a:solidFill>
                      <a:srgbClr val="0A0E14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8B949E"/>
                          </a:solidFill>
                        </a:rPr>
                        <a:t>Temporal Memory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6FC"/>
                          </a:solidFill>
                        </a:rPr>
                        <a:t>none  (per-window, stateless)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FB950"/>
                          </a:solidFill>
                        </a:rPr>
                        <a:t>mem₁ persistent across all 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8B949E"/>
                          </a:solidFill>
                        </a:rPr>
                        <a:t>Training</a:t>
                      </a:r>
                    </a:p>
                  </a:txBody>
                  <a:tcPr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6FC"/>
                          </a:solidFill>
                        </a:rPr>
                        <a:t>Standard BPTT</a:t>
                      </a:r>
                    </a:p>
                  </a:txBody>
                  <a:tcPr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8A6FF"/>
                          </a:solidFill>
                        </a:rPr>
                        <a:t>Surrogate grad + TBPTT</a:t>
                      </a:r>
                    </a:p>
                  </a:txBody>
                  <a:tcPr>
                    <a:solidFill>
                      <a:srgbClr val="0A0E14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8B949E"/>
                          </a:solidFill>
                        </a:rPr>
                        <a:t>Real-time capable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6FC"/>
                          </a:solidFill>
                        </a:rPr>
                        <a:t>windowed only  (batch)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FB950"/>
                          </a:solidFill>
                        </a:rPr>
                        <a:t>true streaming  (per-sample)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8B949E"/>
                          </a:solidFill>
                        </a:rPr>
                        <a:t>Test Accuracy</a:t>
                      </a:r>
                    </a:p>
                  </a:txBody>
                  <a:tcPr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6FC"/>
                          </a:solidFill>
                        </a:rPr>
                        <a:t>~99%  (4160 params)</a:t>
                      </a:r>
                    </a:p>
                  </a:txBody>
                  <a:tcPr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FB950"/>
                          </a:solidFill>
                        </a:rPr>
                        <a:t>100%  (97 params)</a:t>
                      </a:r>
                    </a:p>
                  </a:txBody>
                  <a:tcPr>
                    <a:solidFill>
                      <a:srgbClr val="0F3D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F58"/>
                </a:solidFill>
              </a:rPr>
              <a:t>ANN Course · SNN Predictive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F6FC"/>
                </a:solidFill>
              </a:rPr>
              <a:t>Conclusion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25880"/>
            <a:ext cx="12188952" cy="0"/>
          </a:xfrm>
          <a:prstGeom prst="line">
            <a:avLst/>
          </a:prstGeom>
          <a:ln w="1524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4173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FB950"/>
                </a:solidFill>
              </a:rPr>
              <a:t>SNN Contributions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56231"/>
            <a:ext cx="274320" cy="274320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874519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14"/>
                </a:solidFill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28800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F6FC"/>
                </a:solidFill>
              </a:rPr>
              <a:t>LIF neuron: built-in temporal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96312"/>
            <a:ext cx="274320" cy="274320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251460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14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468880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F6FC"/>
                </a:solidFill>
              </a:rPr>
              <a:t>Surrogate gradient enables BPTT on spikes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36391"/>
            <a:ext cx="274320" cy="274320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3154679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14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108960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F6FC"/>
                </a:solidFill>
              </a:rPr>
              <a:t>Streaming: one weight per hidden unit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76472"/>
            <a:ext cx="274320" cy="274320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3794759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14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749039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F6FC"/>
                </a:solidFill>
              </a:rPr>
              <a:t>TBPTT: scalable training on long streams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416552"/>
            <a:ext cx="274320" cy="274320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443484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14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389120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F6FC"/>
                </a:solidFill>
              </a:rPr>
              <a:t>Edge deployment: 97 params in C on ESP32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056632"/>
            <a:ext cx="274320" cy="274320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507492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14"/>
                </a:solidFill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5029200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F6FC"/>
                </a:solidFill>
              </a:rPr>
              <a:t>100% test accuracy on CWRU benchmark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0" y="1417320"/>
            <a:ext cx="0" cy="5074920"/>
          </a:xfrm>
          <a:prstGeom prst="line">
            <a:avLst/>
          </a:prstGeom>
          <a:ln w="1905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217920" y="14173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A6FF"/>
                </a:solidFill>
              </a:rPr>
              <a:t>Key Insights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82880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8A6FF"/>
                </a:solidFill>
              </a:rPr>
              <a:t>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1828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949E"/>
                </a:solidFill>
              </a:rPr>
              <a:t>Neuromorphic ≠ just biological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12140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F58"/>
                </a:solidFill>
              </a:rPr>
              <a:t>sparse spikes → real computational benefit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85292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8A6FF"/>
                </a:solidFill>
              </a:rPr>
              <a:t>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28529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949E"/>
                </a:solidFill>
              </a:rPr>
              <a:t>Delta mod as feature engineering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314553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F58"/>
                </a:solidFill>
              </a:rPr>
              <a:t>maps domain knowledge to spike rates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877056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8A6FF"/>
                </a:solidFill>
              </a:rPr>
              <a:t>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38770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949E"/>
                </a:solidFill>
              </a:rPr>
              <a:t>Persistent state = temporal context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16966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F58"/>
                </a:solidFill>
              </a:rPr>
              <a:t>replaces explicit window or LSTM cell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901184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8A6FF"/>
                </a:solidFill>
              </a:rPr>
              <a:t>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49011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949E"/>
                </a:solidFill>
              </a:rPr>
              <a:t>Soft reset preserves energy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51937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F58"/>
                </a:solidFill>
              </a:rPr>
              <a:t>more info than hard reset to zero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6080760"/>
            <a:ext cx="11457432" cy="640080"/>
          </a:xfrm>
          <a:prstGeom prst="roundRect">
            <a:avLst/>
          </a:prstGeom>
          <a:solidFill>
            <a:srgbClr val="0F3D20"/>
          </a:solidFill>
          <a:ln w="317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1904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FB950"/>
                </a:solidFill>
              </a:rPr>
              <a:t>Streaming SNN: neuromorphic principles yield practical efficiency gains  —  97 params, 100% accuracy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84F58"/>
                </a:solidFill>
              </a:rPr>
              <a:t>Machine Learning · SNN Predictive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0F6FC"/>
                </a:solidFill>
              </a:rPr>
              <a:t>5-Fold Cross-Validation Results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25880"/>
            <a:ext cx="12188952" cy="0"/>
          </a:xfrm>
          <a:prstGeom prst="line">
            <a:avLst/>
          </a:prstGeom>
          <a:ln w="1270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417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949E"/>
                </a:solidFill>
              </a:rPr>
              <a:t>Summary (mean ± std across 5 folds)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83080"/>
            <a:ext cx="5029200" cy="457200"/>
          </a:xfrm>
          <a:prstGeom prst="rect">
            <a:avLst/>
          </a:prstGeom>
          <a:solidFill>
            <a:srgbClr val="0F2A1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56231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</a:rP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856231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</a:rPr>
              <a:t>1.0000 ± 0.0000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13432"/>
            <a:ext cx="5029200" cy="457200"/>
          </a:xfrm>
          <a:prstGeom prst="rect">
            <a:avLst/>
          </a:prstGeom>
          <a:solidFill>
            <a:srgbClr val="0A140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8658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</a:rPr>
              <a:t>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38658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</a:rPr>
              <a:t>1.0000 ± 0.0000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43784"/>
            <a:ext cx="5029200" cy="457200"/>
          </a:xfrm>
          <a:prstGeom prst="rect">
            <a:avLst/>
          </a:prstGeom>
          <a:solidFill>
            <a:srgbClr val="0F2A1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16935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</a:rPr>
              <a:t>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916935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</a:rPr>
              <a:t>1.0000 ± 0.0000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74135"/>
            <a:ext cx="5029200" cy="457200"/>
          </a:xfrm>
          <a:prstGeom prst="rect">
            <a:avLst/>
          </a:prstGeom>
          <a:solidFill>
            <a:srgbClr val="0A140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447287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</a:rPr>
              <a:t>F1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447287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</a:rPr>
              <a:t>1.0000 ± 0.0000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04487"/>
            <a:ext cx="5029200" cy="457200"/>
          </a:xfrm>
          <a:prstGeom prst="rect">
            <a:avLst/>
          </a:prstGeom>
          <a:solidFill>
            <a:srgbClr val="0F2A1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977639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</a:rPr>
              <a:t>ROC-AUC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97763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</a:rPr>
              <a:t>1.0000 ± 0.0000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572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84F58"/>
                </a:solidFill>
              </a:rPr>
              <a:t>All 1425 chunks  ·  473 fault  ·  952 normal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9194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</a:rPr>
              <a:t>fault   P=1.00  R=1.00  F1=1.00  (473 chunks)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2395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</a:rPr>
              <a:t>normal  P=1.00  R=1.00  F1=1.00  (952 chunks)</a:t>
            </a:r>
          </a:p>
        </p:txBody>
      </p:sp>
      <p:pic>
        <p:nvPicPr>
          <p:cNvPr id="24" name="Picture 23" descr="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17320"/>
            <a:ext cx="6400800" cy="3200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486400" y="46634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949E"/>
                </a:solidFill>
              </a:rPr>
              <a:t>Training Convergence</a:t>
            </a:r>
          </a:p>
        </p:txBody>
      </p:sp>
      <p:pic>
        <p:nvPicPr>
          <p:cNvPr id="26" name="Picture 25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4983480"/>
            <a:ext cx="3200400" cy="1645920"/>
          </a:xfrm>
          <a:prstGeom prst="rect">
            <a:avLst/>
          </a:prstGeom>
        </p:spPr>
      </p:pic>
      <p:pic>
        <p:nvPicPr>
          <p:cNvPr id="27" name="Picture 26" descr="roc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4983480"/>
            <a:ext cx="3108960" cy="1645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